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8C6A3-5A82-4EEB-AB87-56AE5107689F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F0897-0994-41AE-98B6-29116DFB1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751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F0897-0994-41AE-98B6-29116DFB170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593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81F10-BE9D-6F5A-D36D-05E2D233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9247B-3556-76F1-58FF-B5CAC9A27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90073-6C4E-FBFF-3FE2-51D4A99D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3CB67-599A-0253-0BFA-6F6E340D9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F0897-0994-41AE-98B6-29116DFB170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69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6928-96BA-6293-2FDF-3B25C2704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28EFC-D933-2916-8A50-B50E813D1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F5F49-7EDC-C6CE-AE52-0F0969960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D0CF6-44F9-263E-18F9-FB8C351D8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F0897-0994-41AE-98B6-29116DFB170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746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927B-B5C5-29E7-BDF8-7668740E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F343-F494-9919-3E3B-FDCF17437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518B5-10C5-69FB-5271-0FFA5AA18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F0CC4-DE28-929D-7913-6E5A94799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F0897-0994-41AE-98B6-29116DFB170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96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423A-11A5-24AD-C2DD-99512760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CC979-8F5A-6A82-B8FF-49EB50C49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03FA2-FC71-2B2A-799A-290A40BC3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0D0D7-43D1-D844-6155-B32B5ACDA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F0897-0994-41AE-98B6-29116DFB170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610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8E2A7-10B5-D02A-B719-CD1BF4DB5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904AC2-79D3-2755-FD46-A4E6014E7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4BF83-E5B3-531A-305B-4D0DC0EE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6DA0B-2DA6-44FB-4BB9-385940277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050F47-DE7B-DC58-D396-AE0E760A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22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4943B-FE77-AD52-E681-D83CE53B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40045C-1BFF-E3CA-7E31-C543467D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A28BA-4CD9-FA6F-6124-46A6F9D9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3648EE-8566-B197-23F1-0EB02F3B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1F13C6-C6F8-8A6E-62DF-56E2FE77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01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5537C-F323-02E9-FE94-F0836FB1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110A89-A616-8328-28AE-34268968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4C0611-DB9B-BBE6-7411-D152B259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81DA8A-8E57-8B9D-FFE9-9FD96C22F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440232-E741-C899-D0CA-2CC72A6A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18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33B92-EFE7-DD93-8C5D-1E5A56E5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6448E-3F3C-FE80-29EA-7FD32E648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12BA46-47BA-72FB-07A3-67E4859D8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5572AB-C704-C249-81A0-CC2E1C9E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A6D444-7385-3A40-48B0-B55E9394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65BC92-2AEB-D3BE-5105-6B2688C3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46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E7529-ED03-56A3-BD9F-B3D3131D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C31862-C8C1-6389-2511-0064AA4E8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93806B-714F-4EB4-BD2C-4D3BDFCB8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A058EDE-2466-E994-27A8-15634CEC7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F26653-FA51-EC5E-7F8A-E7745FB52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A7A6E5-830F-B8F9-2AAF-1284A07D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1E456D-A657-7735-E9F0-2C394C5A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108A26-4BD5-4ADC-D5E9-00E9E3C9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2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05468-3846-D0B6-8D3D-3D859058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271AC5-09DD-1D66-B9E5-4B14ED87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C4703C-6787-F123-9A7E-91D0F6189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895EB4-033E-F201-1D8E-E1F44790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691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A195B9-CFC1-F54A-7615-AF8DCC028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4068BF-35B5-23F8-4D1F-D342E4414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250677-F1FF-7948-8C9F-448BD646C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18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59FA0-AFC9-A044-0616-A71C421B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B713B6-8DDE-F65B-D618-F82B0598F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9D4DD8-900C-2776-B893-7232C435E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80566B-0DC2-E622-064A-4E53CB9D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2C080D-52A2-294F-CC07-D27ED85C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051B4C-DD53-1CD0-568E-36C2ECE6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58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EE88E-2089-3B96-08F0-910A5B380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5F4C11-69CD-42E3-A529-BE47BB2B8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E8253B-14A5-FB0D-33E6-3105E7BE9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75FED-0897-1A79-5DBA-08954637E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A65C34-1009-E29E-65E2-3F7F8903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2618B5-1AB0-B64A-759F-A4D0F5B3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69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3A45B-E32A-9CE7-647C-BFAEC4C2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09C8BE-E88F-6FC7-B4E3-3C9814BB6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23745-B979-DD91-985C-4857BB32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8DD8D2-3B91-3E03-53EE-8A6D7A0B2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CDF557-F5B7-86EE-0F36-87789F0D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3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195FFE-6C2F-59E3-2E30-12B90462C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267D59-80F8-CF1F-A479-1E5BF227F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EA78CF-5936-B7DA-E1D7-3D279F1F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61BB5-7BA6-A444-DD2B-41214A78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5025AD-05C5-1808-E033-3BF2C8F9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59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F57192-C0B9-62A9-496B-B3CCEBA3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11704E-8BCB-97CD-E814-4A341F551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66ED-57B9-BD47-E709-0DA892C90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397AFB-B224-47F3-8384-C07EA01A85EB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91AE8C-83EF-53F6-FD0B-6E1A342E3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1A04A-EDA7-4F4E-080D-D7FC43B8D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87788-CF67-4B92-8466-56EB3C308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22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441D0-EC29-A7B1-B6EC-8925E05B5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30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>
                <a:latin typeface="+mn-lt"/>
              </a:rPr>
              <a:t>Aim of the project</a:t>
            </a:r>
            <a:endParaRPr lang="zh-CN" altLang="en-US" sz="54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AD183E2-1BE5-1FF5-EF0C-E17C25F6DE56}"/>
                  </a:ext>
                </a:extLst>
              </p:cNvPr>
              <p:cNvSpPr txBox="1"/>
              <p:nvPr/>
            </p:nvSpPr>
            <p:spPr>
              <a:xfrm>
                <a:off x="5035944" y="2136338"/>
                <a:ext cx="6584554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Condition of the planet at chemical equilibrium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3 phases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7 Elements (H, C, O, Fe, Si, Mg, Na)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Number of moles of each phase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(3 variables)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Mole fraction of each component in each phase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(25 variables)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𝐬𝐮𝐫𝐟𝐚𝐜𝐞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𝐯𝐚𝐫𝐢𝐚𝐛𝐥𝐞</m:t>
                    </m:r>
                    <m:r>
                      <a:rPr lang="en-US" altLang="zh-C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AD183E2-1BE5-1FF5-EF0C-E17C25F6D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944" y="2136338"/>
                <a:ext cx="6584554" cy="3139321"/>
              </a:xfrm>
              <a:prstGeom prst="rect">
                <a:avLst/>
              </a:prstGeom>
              <a:blipFill>
                <a:blip r:embed="rId2"/>
                <a:stretch>
                  <a:fillRect l="-556" t="-971" r="-1111" b="-1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837B170-C9BA-C15E-F5FF-E444346620DB}"/>
                  </a:ext>
                </a:extLst>
              </p:cNvPr>
              <p:cNvSpPr txBox="1"/>
              <p:nvPr/>
            </p:nvSpPr>
            <p:spPr>
              <a:xfrm>
                <a:off x="2813050" y="5913199"/>
                <a:ext cx="8758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altLang="zh-CN" b="1" i="0" dirty="0">
                            <a:latin typeface="Cambria Math" panose="02040503050406030204" pitchFamily="18" charset="0"/>
                          </a:rPr>
                          <m:t>𝐬𝐮𝐫𝐟𝐚𝐜𝐞</m:t>
                        </m:r>
                      </m:sub>
                    </m:sSub>
                  </m:oMath>
                </a14:m>
                <a:r>
                  <a:rPr lang="zh-CN" altLang="en-US" b="1" dirty="0"/>
                  <a:t> </a:t>
                </a:r>
                <a:r>
                  <a:rPr lang="en-US" altLang="zh-CN" dirty="0"/>
                  <a:t>(the pressure at the boundary between the magma ocean and the envelope)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837B170-C9BA-C15E-F5FF-E44434662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050" y="5913199"/>
                <a:ext cx="8758618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29EBE4CC-57A2-6BDA-184A-9316FD2706AF}"/>
              </a:ext>
            </a:extLst>
          </p:cNvPr>
          <p:cNvGrpSpPr/>
          <p:nvPr/>
        </p:nvGrpSpPr>
        <p:grpSpPr>
          <a:xfrm>
            <a:off x="-347635" y="869135"/>
            <a:ext cx="5862634" cy="5119730"/>
            <a:chOff x="325035" y="1784351"/>
            <a:chExt cx="4710908" cy="410210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166F7BA-6B9F-60E3-818B-3A897791A7F3}"/>
                </a:ext>
              </a:extLst>
            </p:cNvPr>
            <p:cNvSpPr>
              <a:spLocks/>
            </p:cNvSpPr>
            <p:nvPr/>
          </p:nvSpPr>
          <p:spPr>
            <a:xfrm>
              <a:off x="677065" y="1784351"/>
              <a:ext cx="4006850" cy="389374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AA4B86F-E9B1-F945-A567-EA5CF784236F}"/>
                </a:ext>
              </a:extLst>
            </p:cNvPr>
            <p:cNvSpPr>
              <a:spLocks/>
            </p:cNvSpPr>
            <p:nvPr/>
          </p:nvSpPr>
          <p:spPr>
            <a:xfrm>
              <a:off x="1350162" y="2413595"/>
              <a:ext cx="2660650" cy="263525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5F780BDC-5756-57FA-1FB2-6E2AAD214114}"/>
                </a:ext>
              </a:extLst>
            </p:cNvPr>
            <p:cNvSpPr>
              <a:spLocks/>
            </p:cNvSpPr>
            <p:nvPr/>
          </p:nvSpPr>
          <p:spPr>
            <a:xfrm>
              <a:off x="2082794" y="3174001"/>
              <a:ext cx="1195387" cy="1202531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F4B0C7A-C3DF-0C3A-F908-2416C2676C3C}"/>
                </a:ext>
              </a:extLst>
            </p:cNvPr>
            <p:cNvSpPr txBox="1">
              <a:spLocks/>
            </p:cNvSpPr>
            <p:nvPr/>
          </p:nvSpPr>
          <p:spPr>
            <a:xfrm>
              <a:off x="1933171" y="3395036"/>
              <a:ext cx="14946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Core</a:t>
              </a:r>
            </a:p>
            <a:p>
              <a:pPr algn="ctr"/>
              <a:r>
                <a:rPr lang="en-US" altLang="zh-CN" dirty="0"/>
                <a:t>(Fe, Si, H, O)</a:t>
              </a:r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31DCBCC-AB01-6693-AAA4-45AC299E6006}"/>
                </a:ext>
              </a:extLst>
            </p:cNvPr>
            <p:cNvSpPr txBox="1">
              <a:spLocks/>
            </p:cNvSpPr>
            <p:nvPr/>
          </p:nvSpPr>
          <p:spPr>
            <a:xfrm>
              <a:off x="1000714" y="2610434"/>
              <a:ext cx="33595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Magma Ocean</a:t>
              </a:r>
            </a:p>
            <a:p>
              <a:pPr algn="ctr"/>
              <a:r>
                <a:rPr lang="en-US" altLang="zh-CN" dirty="0"/>
                <a:t>(MgO, SiO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, Na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O, etc.) </a:t>
              </a:r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60A9BF6-E889-B9CA-F189-8B81DE11F23F}"/>
                </a:ext>
              </a:extLst>
            </p:cNvPr>
            <p:cNvSpPr txBox="1">
              <a:spLocks/>
            </p:cNvSpPr>
            <p:nvPr/>
          </p:nvSpPr>
          <p:spPr>
            <a:xfrm>
              <a:off x="325035" y="1940072"/>
              <a:ext cx="47109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Envelope (atmosphere)</a:t>
              </a:r>
            </a:p>
            <a:p>
              <a:pPr algn="ctr"/>
              <a:r>
                <a:rPr lang="en-US" altLang="zh-CN" dirty="0"/>
                <a:t>(H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, CO, CO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, CH</a:t>
              </a:r>
              <a:r>
                <a:rPr lang="en-US" altLang="zh-CN" baseline="-25000" dirty="0"/>
                <a:t>4</a:t>
              </a:r>
              <a:r>
                <a:rPr lang="en-US" altLang="zh-CN" dirty="0"/>
                <a:t>, etc.)</a:t>
              </a:r>
              <a:endParaRPr lang="zh-CN" altLang="en-US" dirty="0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12D858C-F8C6-BDFB-F0E1-34C8DE6F41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0925" y="5048845"/>
              <a:ext cx="244921" cy="8376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684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A579347-81EC-F9D7-6CF9-DC89D90D8A58}"/>
              </a:ext>
            </a:extLst>
          </p:cNvPr>
          <p:cNvCxnSpPr>
            <a:cxnSpLocks/>
          </p:cNvCxnSpPr>
          <p:nvPr/>
        </p:nvCxnSpPr>
        <p:spPr>
          <a:xfrm>
            <a:off x="8301203" y="920978"/>
            <a:ext cx="0" cy="58284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F10452F-8B9F-B583-EABE-1C090940256B}"/>
              </a:ext>
            </a:extLst>
          </p:cNvPr>
          <p:cNvCxnSpPr>
            <a:cxnSpLocks/>
          </p:cNvCxnSpPr>
          <p:nvPr/>
        </p:nvCxnSpPr>
        <p:spPr>
          <a:xfrm>
            <a:off x="3868151" y="1008185"/>
            <a:ext cx="0" cy="57229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0019F68F-4D60-36D8-4380-534164F58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3256"/>
            <a:ext cx="9144000" cy="854929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+mn-lt"/>
              </a:rPr>
              <a:t>Project Frame</a:t>
            </a:r>
            <a:endParaRPr lang="zh-CN" altLang="en-US" b="1" dirty="0">
              <a:latin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47197D-B32C-6BB7-40DB-D7C962526927}"/>
              </a:ext>
            </a:extLst>
          </p:cNvPr>
          <p:cNvSpPr/>
          <p:nvPr/>
        </p:nvSpPr>
        <p:spPr>
          <a:xfrm>
            <a:off x="356022" y="1394700"/>
            <a:ext cx="2658489" cy="1913261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tx1"/>
                </a:solidFill>
              </a:rPr>
              <a:t>Input</a:t>
            </a:r>
            <a:endParaRPr lang="zh-CN" alt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451C7C-68AC-2022-03B1-D7C15E06AAEE}"/>
              </a:ext>
            </a:extLst>
          </p:cNvPr>
          <p:cNvSpPr/>
          <p:nvPr/>
        </p:nvSpPr>
        <p:spPr>
          <a:xfrm>
            <a:off x="4721786" y="1393192"/>
            <a:ext cx="2766646" cy="1914769"/>
          </a:xfrm>
          <a:prstGeom prst="rect">
            <a:avLst/>
          </a:prstGeom>
          <a:solidFill>
            <a:schemeClr val="bg1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tx1"/>
                </a:solidFill>
              </a:rPr>
              <a:t>Algorithm</a:t>
            </a:r>
            <a:endParaRPr lang="zh-CN" altLang="en-US" sz="4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1937AC-322F-FF37-91F4-9E1E71E4EDAA}"/>
              </a:ext>
            </a:extLst>
          </p:cNvPr>
          <p:cNvSpPr/>
          <p:nvPr/>
        </p:nvSpPr>
        <p:spPr>
          <a:xfrm>
            <a:off x="9290834" y="1393191"/>
            <a:ext cx="2545141" cy="1914769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tx1"/>
                </a:solidFill>
              </a:rPr>
              <a:t>Output</a:t>
            </a:r>
            <a:endParaRPr lang="zh-CN" altLang="en-US" sz="4000" b="1" dirty="0">
              <a:solidFill>
                <a:schemeClr val="tx1"/>
              </a:solidFill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AEF7A91C-859B-DD5C-8823-1CF0E51D39B9}"/>
              </a:ext>
            </a:extLst>
          </p:cNvPr>
          <p:cNvSpPr/>
          <p:nvPr/>
        </p:nvSpPr>
        <p:spPr>
          <a:xfrm>
            <a:off x="3272088" y="2107175"/>
            <a:ext cx="1192127" cy="4868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52454E9E-E01F-E5A3-EF52-78DEB62C451F}"/>
              </a:ext>
            </a:extLst>
          </p:cNvPr>
          <p:cNvSpPr/>
          <p:nvPr/>
        </p:nvSpPr>
        <p:spPr>
          <a:xfrm>
            <a:off x="7746003" y="2107175"/>
            <a:ext cx="1330688" cy="4868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75DF61-DAB3-DF6B-528A-9836F7491105}"/>
              </a:ext>
            </a:extLst>
          </p:cNvPr>
          <p:cNvSpPr txBox="1"/>
          <p:nvPr/>
        </p:nvSpPr>
        <p:spPr>
          <a:xfrm>
            <a:off x="250248" y="4026426"/>
            <a:ext cx="35153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Initial values of 29 variables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Temperature, solver settings, total amount of each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5830A4-4BB3-D747-1A8E-D24CAAE85115}"/>
              </a:ext>
            </a:extLst>
          </p:cNvPr>
          <p:cNvSpPr txBox="1"/>
          <p:nvPr/>
        </p:nvSpPr>
        <p:spPr>
          <a:xfrm>
            <a:off x="4186805" y="4026426"/>
            <a:ext cx="3795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29 Equations for 29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Simulated annealing + MCMC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2153A19-7DC2-E842-1F81-B1CC0615964C}"/>
              </a:ext>
            </a:extLst>
          </p:cNvPr>
          <p:cNvSpPr txBox="1"/>
          <p:nvPr/>
        </p:nvSpPr>
        <p:spPr>
          <a:xfrm>
            <a:off x="8537749" y="4025385"/>
            <a:ext cx="3429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Best fit values of 29 variables at chemical equilibrium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2177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43AD2-0E23-8D0F-91B9-2ADFAD2A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>
                <a:latin typeface="+mn-lt"/>
              </a:rPr>
              <a:t>Equations</a:t>
            </a:r>
            <a:endParaRPr lang="zh-CN" altLang="en-US" sz="54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B533CC-DDFC-9931-910F-AFA828399C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92200"/>
                <a:ext cx="10515600" cy="56959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18 reactions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zh-CN" i="0" dirty="0" err="1">
                                          <a:latin typeface="Cambria Math" panose="02040503050406030204" pitchFamily="18" charset="0"/>
                                        </a:rPr>
                                        <m:t>rxn</m:t>
                                      </m:r>
                                    </m:sub>
                                    <m:sup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∘</m:t>
                                      </m:r>
                                    </m:sup>
                                  </m:sSubSup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den>
                          </m:f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nary>
                          <m:func>
                            <m:func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𝑠𝑢𝑟𝑓𝑎𝑐𝑒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∘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altLang="zh-CN" dirty="0"/>
                  <a:t>7 mass balance equations</a:t>
                </a:r>
              </a:p>
              <a:p>
                <a:pPr marL="0" indent="0" algn="just">
                  <a:buNone/>
                </a:pPr>
                <a:endParaRPr lang="en-US" altLang="zh-CN" b="0" i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pt-BR" altLang="zh-CN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pt-BR" altLang="zh-CN" i="1" dirty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altLang="zh-C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zh-C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zh-CN" i="1" dirty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pt-BR" altLang="zh-CN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pt-BR" altLang="zh-C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altLang="zh-C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altLang="zh-C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pt-BR" altLang="zh-CN" i="1" dirty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pt-BR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altLang="zh-C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altLang="zh-CN" i="1" dirty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pt-BR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pt-BR" altLang="zh-C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altLang="zh-CN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algn="just"/>
                <a:endParaRPr lang="en-US" altLang="zh-C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B533CC-DDFC-9931-910F-AFA828399C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92200"/>
                <a:ext cx="10515600" cy="5695950"/>
              </a:xfrm>
              <a:blipFill>
                <a:blip r:embed="rId2"/>
                <a:stretch>
                  <a:fillRect l="-1043" t="-1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07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4A05384-8604-C6AB-E237-5AA3DB9FE7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28700"/>
                <a:ext cx="10515600" cy="5148263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3 unity equations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altLang="zh-CN" i="1" dirty="0" smtClean="0">
                          <a:latin typeface="Cambria Math" panose="02040503050406030204" pitchFamily="18" charset="0"/>
                        </a:rPr>
                        <m:t>1−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nn-NO" altLang="zh-C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altLang="zh-CN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nn-NO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altLang="zh-CN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n-NO" altLang="zh-CN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nn-NO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n-NO" altLang="zh-CN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nn-NO" altLang="zh-CN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altLang="zh-CN" dirty="0"/>
                  <a:t>Newton's Second Law (solving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dirty="0">
                            <a:latin typeface="Cambria Math" panose="02040503050406030204" pitchFamily="18" charset="0"/>
                          </a:rPr>
                          <m:t>surface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)</a:t>
                </a:r>
              </a:p>
              <a:p>
                <a:pPr algn="just"/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CN" i="0" dirty="0">
                                      <a:latin typeface="Cambria Math" panose="02040503050406030204" pitchFamily="18" charset="0"/>
                                    </a:rPr>
                                    <m:t>surface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lit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bar</m:t>
                              </m:r>
                            </m:den>
                          </m:f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≃1×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atm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lit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algn="just"/>
                <a:endParaRPr lang="en-US" altLang="zh-CN" i="1" dirty="0"/>
              </a:p>
              <a:p>
                <a:pPr marL="0" indent="0" algn="ctr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4A05384-8604-C6AB-E237-5AA3DB9FE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28700"/>
                <a:ext cx="10515600" cy="5148263"/>
              </a:xfrm>
              <a:blipFill>
                <a:blip r:embed="rId2"/>
                <a:stretch>
                  <a:fillRect l="-1043" t="-2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D4E5D341-2094-B63F-FF0F-DD793DDE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>
                <a:latin typeface="+mn-lt"/>
              </a:rPr>
              <a:t>Equations</a:t>
            </a:r>
            <a:endParaRPr lang="zh-CN" altLang="en-US" sz="5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5529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54CE90-A330-BFFF-6300-67EF25066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350"/>
            <a:ext cx="10515600" cy="5027613"/>
          </a:xfrm>
        </p:spPr>
        <p:txBody>
          <a:bodyPr/>
          <a:lstStyle/>
          <a:p>
            <a:r>
              <a:rPr lang="en-US" altLang="zh-CN" dirty="0"/>
              <a:t>Simulated annealing: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It gives a small region where the best fit lies.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MCMC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It finds the best-fit values in the given region.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F060988-3DF1-9B8B-8635-7B44188A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>
                <a:latin typeface="+mn-lt"/>
              </a:rPr>
              <a:t>Solver</a:t>
            </a:r>
            <a:endParaRPr lang="zh-CN" altLang="en-US" sz="5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1894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B16ED371-F095-3564-EA75-F093A1577DFE}"/>
              </a:ext>
            </a:extLst>
          </p:cNvPr>
          <p:cNvSpPr txBox="1">
            <a:spLocks/>
          </p:cNvSpPr>
          <p:nvPr/>
        </p:nvSpPr>
        <p:spPr>
          <a:xfrm>
            <a:off x="6721478" y="1857360"/>
            <a:ext cx="3406772" cy="525463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zh-CN" sz="1800" dirty="0">
                <a:latin typeface="+mn-lt"/>
              </a:rPr>
              <a:t>Equations of states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B4B0D38-5A11-8758-BE98-12C7F9211EF1}"/>
              </a:ext>
            </a:extLst>
          </p:cNvPr>
          <p:cNvSpPr txBox="1">
            <a:spLocks/>
          </p:cNvSpPr>
          <p:nvPr/>
        </p:nvSpPr>
        <p:spPr>
          <a:xfrm>
            <a:off x="6721478" y="2276478"/>
            <a:ext cx="4091762" cy="525463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zh-CN" sz="1800" dirty="0">
                <a:latin typeface="+mn-lt"/>
              </a:rPr>
              <a:t>Activity coefficients for nonideal mixing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标题 1">
                <a:extLst>
                  <a:ext uri="{FF2B5EF4-FFF2-40B4-BE49-F238E27FC236}">
                    <a16:creationId xmlns:a16="http://schemas.microsoft.com/office/drawing/2014/main" id="{014D297B-D15E-1218-F3EC-DA4F59A3E5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69228" y="1709734"/>
                <a:ext cx="2238372" cy="364326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altLang="zh-CN" sz="1800" b="1" dirty="0">
                    <a:solidFill>
                      <a:srgbClr val="FF0000"/>
                    </a:solidFill>
                    <a:latin typeface="+mn-lt"/>
                  </a:rPr>
                  <a:t>H</a:t>
                </a:r>
                <a14:m>
                  <m:oMath xmlns:m="http://schemas.openxmlformats.org/officeDocument/2006/math">
                    <m:r>
                      <a:rPr lang="en-US" altLang="zh-CN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𝐞𝐫𝐞</m:t>
                    </m:r>
                    <m:r>
                      <a:rPr lang="en-US" altLang="zh-CN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𝐰𝐞</m:t>
                    </m:r>
                    <m:r>
                      <a:rPr lang="en-US" altLang="zh-CN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𝐚𝐫𝐞</m:t>
                    </m:r>
                    <m:r>
                      <a:rPr lang="en-US" altLang="zh-CN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1800" b="1" dirty="0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11" name="标题 1">
                <a:extLst>
                  <a:ext uri="{FF2B5EF4-FFF2-40B4-BE49-F238E27FC236}">
                    <a16:creationId xmlns:a16="http://schemas.microsoft.com/office/drawing/2014/main" id="{014D297B-D15E-1218-F3EC-DA4F59A3E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228" y="1709734"/>
                <a:ext cx="2238372" cy="364326"/>
              </a:xfrm>
              <a:prstGeom prst="rect">
                <a:avLst/>
              </a:prstGeom>
              <a:blipFill>
                <a:blip r:embed="rId2"/>
                <a:stretch>
                  <a:fillRect t="-6061" b="-18182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EC681E7E-D737-4631-8B02-1F8C0C888424}"/>
              </a:ext>
            </a:extLst>
          </p:cNvPr>
          <p:cNvSpPr txBox="1">
            <a:spLocks/>
          </p:cNvSpPr>
          <p:nvPr/>
        </p:nvSpPr>
        <p:spPr>
          <a:xfrm>
            <a:off x="439737" y="3166268"/>
            <a:ext cx="2457450" cy="52546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+mn-lt"/>
              </a:rPr>
              <a:t>Reproduction</a:t>
            </a:r>
            <a:endParaRPr lang="zh-CN" altLang="en-US" sz="2800" b="1" dirty="0">
              <a:latin typeface="+mn-lt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0B23B1F-486A-84AD-7F9A-03A9927A533D}"/>
              </a:ext>
            </a:extLst>
          </p:cNvPr>
          <p:cNvSpPr txBox="1">
            <a:spLocks/>
          </p:cNvSpPr>
          <p:nvPr/>
        </p:nvSpPr>
        <p:spPr>
          <a:xfrm>
            <a:off x="3687762" y="654036"/>
            <a:ext cx="1779588" cy="52546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+mn-lt"/>
              </a:rPr>
              <a:t>Database</a:t>
            </a:r>
            <a:endParaRPr lang="zh-CN" altLang="en-US" sz="2800" b="1" dirty="0">
              <a:latin typeface="+mn-lt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18518A3-3B10-940D-34BE-682203DB78C4}"/>
              </a:ext>
            </a:extLst>
          </p:cNvPr>
          <p:cNvSpPr txBox="1">
            <a:spLocks/>
          </p:cNvSpPr>
          <p:nvPr/>
        </p:nvSpPr>
        <p:spPr>
          <a:xfrm>
            <a:off x="3687762" y="5872169"/>
            <a:ext cx="1779588" cy="52546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+mn-lt"/>
              </a:rPr>
              <a:t>Plotting</a:t>
            </a:r>
            <a:endParaRPr lang="zh-CN" altLang="en-US" sz="2800" b="1" dirty="0">
              <a:latin typeface="+mn-lt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1ECFCECB-4CE9-1ACC-4E8E-B21C977A4980}"/>
              </a:ext>
            </a:extLst>
          </p:cNvPr>
          <p:cNvSpPr txBox="1">
            <a:spLocks/>
          </p:cNvSpPr>
          <p:nvPr/>
        </p:nvSpPr>
        <p:spPr>
          <a:xfrm>
            <a:off x="3687762" y="4056058"/>
            <a:ext cx="1779588" cy="52546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+mn-lt"/>
              </a:rPr>
              <a:t>Solver</a:t>
            </a:r>
            <a:endParaRPr lang="zh-CN" altLang="en-US" sz="2800" b="1" dirty="0">
              <a:latin typeface="+mn-lt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F145DF8D-3216-DC19-830A-5B65E84A2964}"/>
              </a:ext>
            </a:extLst>
          </p:cNvPr>
          <p:cNvSpPr txBox="1">
            <a:spLocks/>
          </p:cNvSpPr>
          <p:nvPr/>
        </p:nvSpPr>
        <p:spPr>
          <a:xfrm>
            <a:off x="3687762" y="2276479"/>
            <a:ext cx="1779588" cy="52546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+mn-lt"/>
              </a:rPr>
              <a:t>Equations</a:t>
            </a:r>
            <a:endParaRPr lang="zh-CN" altLang="en-US" sz="2800" b="1" dirty="0">
              <a:latin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3425662-2173-969C-BFBA-8F5B7F1B4E2F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2897187" y="916768"/>
            <a:ext cx="790575" cy="25122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19CD8CC-8167-C607-6D5A-8004795188C6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2897187" y="2539211"/>
            <a:ext cx="790575" cy="889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BB91F47-54C9-1453-98B6-7B3C5D5A8BB2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2897187" y="3429000"/>
            <a:ext cx="790575" cy="889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733520E-61A6-617A-44E9-85F52D165409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897187" y="3429000"/>
            <a:ext cx="790575" cy="2705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标题 1">
                <a:extLst>
                  <a:ext uri="{FF2B5EF4-FFF2-40B4-BE49-F238E27FC236}">
                    <a16:creationId xmlns:a16="http://schemas.microsoft.com/office/drawing/2014/main" id="{7821C19A-18A4-D0C3-364C-171EE9FAC5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4652" y="128573"/>
                <a:ext cx="2920998" cy="525463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d>
                        <m:dPr>
                          <m:ctrlP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each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component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标题 1">
                <a:extLst>
                  <a:ext uri="{FF2B5EF4-FFF2-40B4-BE49-F238E27FC236}">
                    <a16:creationId xmlns:a16="http://schemas.microsoft.com/office/drawing/2014/main" id="{7821C19A-18A4-D0C3-364C-171EE9FAC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652" y="128573"/>
                <a:ext cx="2920998" cy="525463"/>
              </a:xfrm>
              <a:prstGeom prst="rect">
                <a:avLst/>
              </a:prstGeom>
              <a:blipFill>
                <a:blip r:embed="rId3"/>
                <a:stretch>
                  <a:fillRect r="-4330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标题 1">
                <a:extLst>
                  <a:ext uri="{FF2B5EF4-FFF2-40B4-BE49-F238E27FC236}">
                    <a16:creationId xmlns:a16="http://schemas.microsoft.com/office/drawing/2014/main" id="{50E112EF-C363-43C6-6270-4CABDB17B6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4652" y="654035"/>
                <a:ext cx="2573335" cy="525463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1" i="1" dirty="0">
                          <a:latin typeface="Cambria Math" panose="02040503050406030204" pitchFamily="18" charset="0"/>
                        </a:rPr>
                        <m:t>𝜟</m:t>
                      </m:r>
                      <m:acc>
                        <m:accPr>
                          <m:chr m:val="̂"/>
                          <m:ctrl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800" b="1" i="1" dirty="0" err="1">
                                  <a:latin typeface="Cambria Math" panose="02040503050406030204" pitchFamily="18" charset="0"/>
                                </a:rPr>
                                <m:t>rxn</m:t>
                              </m:r>
                            </m:sub>
                            <m:sup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bSup>
                        </m:e>
                      </m:acc>
                      <m:d>
                        <m:dPr>
                          <m:ctrl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sz="1800" b="1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77" name="标题 1">
                <a:extLst>
                  <a:ext uri="{FF2B5EF4-FFF2-40B4-BE49-F238E27FC236}">
                    <a16:creationId xmlns:a16="http://schemas.microsoft.com/office/drawing/2014/main" id="{50E112EF-C363-43C6-6270-4CABDB17B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652" y="654035"/>
                <a:ext cx="2573335" cy="525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标题 1">
                <a:extLst>
                  <a:ext uri="{FF2B5EF4-FFF2-40B4-BE49-F238E27FC236}">
                    <a16:creationId xmlns:a16="http://schemas.microsoft.com/office/drawing/2014/main" id="{AB932DB2-63E0-6748-740A-105FE2A123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1478" y="1179498"/>
                <a:ext cx="2573335" cy="525463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each</m:t>
                      </m:r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component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8" name="标题 1">
                <a:extLst>
                  <a:ext uri="{FF2B5EF4-FFF2-40B4-BE49-F238E27FC236}">
                    <a16:creationId xmlns:a16="http://schemas.microsoft.com/office/drawing/2014/main" id="{AB932DB2-63E0-6748-740A-105FE2A12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478" y="1179498"/>
                <a:ext cx="2573335" cy="525463"/>
              </a:xfrm>
              <a:prstGeom prst="rect">
                <a:avLst/>
              </a:prstGeom>
              <a:blipFill>
                <a:blip r:embed="rId5"/>
                <a:stretch>
                  <a:fillRect r="-15421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11E894DE-BAA9-0B2D-F970-776AB07A7C76}"/>
              </a:ext>
            </a:extLst>
          </p:cNvPr>
          <p:cNvCxnSpPr>
            <a:cxnSpLocks/>
            <a:stCxn id="7" idx="3"/>
            <a:endCxn id="78" idx="1"/>
          </p:cNvCxnSpPr>
          <p:nvPr/>
        </p:nvCxnSpPr>
        <p:spPr>
          <a:xfrm>
            <a:off x="5467350" y="916768"/>
            <a:ext cx="1254128" cy="5254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33AB57C6-56F4-72F6-7D4C-3EA121BBE9CA}"/>
              </a:ext>
            </a:extLst>
          </p:cNvPr>
          <p:cNvCxnSpPr>
            <a:cxnSpLocks/>
            <a:stCxn id="7" idx="3"/>
            <a:endCxn id="77" idx="1"/>
          </p:cNvCxnSpPr>
          <p:nvPr/>
        </p:nvCxnSpPr>
        <p:spPr>
          <a:xfrm flipV="1">
            <a:off x="5467350" y="916767"/>
            <a:ext cx="125730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757A126-4FB3-B0AD-7F14-C4ABC4AFEBF3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 flipV="1">
            <a:off x="5467350" y="391305"/>
            <a:ext cx="1257302" cy="525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标题 1">
            <a:extLst>
              <a:ext uri="{FF2B5EF4-FFF2-40B4-BE49-F238E27FC236}">
                <a16:creationId xmlns:a16="http://schemas.microsoft.com/office/drawing/2014/main" id="{E115035D-3C24-C78A-AC53-38A21A29C24D}"/>
              </a:ext>
            </a:extLst>
          </p:cNvPr>
          <p:cNvSpPr txBox="1">
            <a:spLocks/>
          </p:cNvSpPr>
          <p:nvPr/>
        </p:nvSpPr>
        <p:spPr>
          <a:xfrm>
            <a:off x="6721478" y="2687890"/>
            <a:ext cx="3406772" cy="525463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zh-CN" sz="1800" dirty="0">
                <a:latin typeface="+mn-lt"/>
              </a:rPr>
              <a:t>Functions to solve the variables</a:t>
            </a: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8C6A26AC-362F-ECFB-8DEF-44EA7B8B555C}"/>
              </a:ext>
            </a:extLst>
          </p:cNvPr>
          <p:cNvCxnSpPr>
            <a:cxnSpLocks/>
            <a:stCxn id="10" idx="3"/>
            <a:endCxn id="88" idx="1"/>
          </p:cNvCxnSpPr>
          <p:nvPr/>
        </p:nvCxnSpPr>
        <p:spPr>
          <a:xfrm>
            <a:off x="5467350" y="2539211"/>
            <a:ext cx="1254128" cy="411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标题 1">
                <a:extLst>
                  <a:ext uri="{FF2B5EF4-FFF2-40B4-BE49-F238E27FC236}">
                    <a16:creationId xmlns:a16="http://schemas.microsoft.com/office/drawing/2014/main" id="{8EED4EFC-44E1-E468-1C8D-9C71184889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1478" y="4056058"/>
                <a:ext cx="3406772" cy="525463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altLang="zh-CN" sz="1800" dirty="0">
                    <a:latin typeface="+mn-lt"/>
                  </a:rPr>
                  <a:t>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imulated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annealing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MCMC</m:t>
                    </m:r>
                  </m:oMath>
                </a14:m>
                <a:endParaRPr lang="en-US" altLang="zh-CN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93" name="标题 1">
                <a:extLst>
                  <a:ext uri="{FF2B5EF4-FFF2-40B4-BE49-F238E27FC236}">
                    <a16:creationId xmlns:a16="http://schemas.microsoft.com/office/drawing/2014/main" id="{8EED4EFC-44E1-E468-1C8D-9C7118488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478" y="4056058"/>
                <a:ext cx="3406772" cy="525463"/>
              </a:xfrm>
              <a:prstGeom prst="rect">
                <a:avLst/>
              </a:prstGeom>
              <a:blipFill>
                <a:blip r:embed="rId7"/>
                <a:stretch>
                  <a:fillRect l="-1064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标题 1">
                <a:extLst>
                  <a:ext uri="{FF2B5EF4-FFF2-40B4-BE49-F238E27FC236}">
                    <a16:creationId xmlns:a16="http://schemas.microsoft.com/office/drawing/2014/main" id="{3C4C8030-A1FD-B2A0-75E0-F9F5524A78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1478" y="3522456"/>
                <a:ext cx="3406772" cy="525463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altLang="zh-CN" sz="1800" dirty="0">
                    <a:latin typeface="+mn-lt"/>
                  </a:rPr>
                  <a:t>P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arameter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setting</m:t>
                    </m:r>
                  </m:oMath>
                </a14:m>
                <a:endParaRPr lang="en-US" altLang="zh-CN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94" name="标题 1">
                <a:extLst>
                  <a:ext uri="{FF2B5EF4-FFF2-40B4-BE49-F238E27FC236}">
                    <a16:creationId xmlns:a16="http://schemas.microsoft.com/office/drawing/2014/main" id="{3C4C8030-A1FD-B2A0-75E0-F9F5524A7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478" y="3522456"/>
                <a:ext cx="3406772" cy="525463"/>
              </a:xfrm>
              <a:prstGeom prst="rect">
                <a:avLst/>
              </a:prstGeom>
              <a:blipFill>
                <a:blip r:embed="rId8"/>
                <a:stretch>
                  <a:fillRect l="-1064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8D28ED4-627D-7712-D219-A7331822C9DA}"/>
              </a:ext>
            </a:extLst>
          </p:cNvPr>
          <p:cNvCxnSpPr>
            <a:cxnSpLocks/>
            <a:stCxn id="9" idx="3"/>
            <a:endCxn id="94" idx="1"/>
          </p:cNvCxnSpPr>
          <p:nvPr/>
        </p:nvCxnSpPr>
        <p:spPr>
          <a:xfrm flipV="1">
            <a:off x="5467350" y="3785188"/>
            <a:ext cx="1254128" cy="5336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0BE504E2-8379-E4B1-76B9-11FF3AB26876}"/>
              </a:ext>
            </a:extLst>
          </p:cNvPr>
          <p:cNvCxnSpPr>
            <a:cxnSpLocks/>
            <a:stCxn id="9" idx="3"/>
            <a:endCxn id="93" idx="1"/>
          </p:cNvCxnSpPr>
          <p:nvPr/>
        </p:nvCxnSpPr>
        <p:spPr>
          <a:xfrm>
            <a:off x="5467350" y="4318790"/>
            <a:ext cx="12541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标题 1">
                <a:extLst>
                  <a:ext uri="{FF2B5EF4-FFF2-40B4-BE49-F238E27FC236}">
                    <a16:creationId xmlns:a16="http://schemas.microsoft.com/office/drawing/2014/main" id="{DBB8D8D1-AE67-1773-6952-B77A223BBF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1478" y="5872168"/>
                <a:ext cx="3406772" cy="525463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altLang="zh-CN" sz="1800" dirty="0">
                    <a:latin typeface="+mn-lt"/>
                  </a:rPr>
                  <a:t>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ake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some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nice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plots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altLang="zh-CN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103" name="标题 1">
                <a:extLst>
                  <a:ext uri="{FF2B5EF4-FFF2-40B4-BE49-F238E27FC236}">
                    <a16:creationId xmlns:a16="http://schemas.microsoft.com/office/drawing/2014/main" id="{DBB8D8D1-AE67-1773-6952-B77A223BB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478" y="5872168"/>
                <a:ext cx="3406772" cy="525463"/>
              </a:xfrm>
              <a:prstGeom prst="rect">
                <a:avLst/>
              </a:prstGeom>
              <a:blipFill>
                <a:blip r:embed="rId9"/>
                <a:stretch>
                  <a:fillRect l="-1064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9B777E8C-26C1-EAF5-F103-405FB3069BEF}"/>
              </a:ext>
            </a:extLst>
          </p:cNvPr>
          <p:cNvCxnSpPr>
            <a:cxnSpLocks/>
            <a:stCxn id="8" idx="3"/>
            <a:endCxn id="103" idx="1"/>
          </p:cNvCxnSpPr>
          <p:nvPr/>
        </p:nvCxnSpPr>
        <p:spPr>
          <a:xfrm flipV="1">
            <a:off x="5467350" y="6134900"/>
            <a:ext cx="125412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463D15E7-7E5C-C551-A2D4-D937EC46B2AF}"/>
              </a:ext>
            </a:extLst>
          </p:cNvPr>
          <p:cNvCxnSpPr>
            <a:cxnSpLocks/>
            <a:stCxn id="111" idx="0"/>
          </p:cNvCxnSpPr>
          <p:nvPr/>
        </p:nvCxnSpPr>
        <p:spPr>
          <a:xfrm flipH="1" flipV="1">
            <a:off x="9645650" y="1442230"/>
            <a:ext cx="1342764" cy="2675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标题 1">
                <a:extLst>
                  <a:ext uri="{FF2B5EF4-FFF2-40B4-BE49-F238E27FC236}">
                    <a16:creationId xmlns:a16="http://schemas.microsoft.com/office/drawing/2014/main" id="{EB031E6E-836B-50B0-342B-9978DFD77D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1478" y="4581520"/>
                <a:ext cx="1057272" cy="525463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en-US" altLang="zh-CN" sz="1800" dirty="0">
                    <a:latin typeface="+mn-lt"/>
                  </a:rPr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utput</m:t>
                    </m:r>
                  </m:oMath>
                </a14:m>
                <a:endParaRPr lang="en-US" altLang="zh-CN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120" name="标题 1">
                <a:extLst>
                  <a:ext uri="{FF2B5EF4-FFF2-40B4-BE49-F238E27FC236}">
                    <a16:creationId xmlns:a16="http://schemas.microsoft.com/office/drawing/2014/main" id="{EB031E6E-836B-50B0-342B-9978DFD77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478" y="4581520"/>
                <a:ext cx="1057272" cy="525463"/>
              </a:xfrm>
              <a:prstGeom prst="rect">
                <a:avLst/>
              </a:prstGeom>
              <a:blipFill>
                <a:blip r:embed="rId10"/>
                <a:stretch>
                  <a:fillRect l="-3352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21CFE208-5DE1-7A3D-61D9-D6F450EE5F91}"/>
              </a:ext>
            </a:extLst>
          </p:cNvPr>
          <p:cNvCxnSpPr>
            <a:cxnSpLocks/>
            <a:stCxn id="9" idx="3"/>
            <a:endCxn id="120" idx="1"/>
          </p:cNvCxnSpPr>
          <p:nvPr/>
        </p:nvCxnSpPr>
        <p:spPr>
          <a:xfrm>
            <a:off x="5467350" y="4318790"/>
            <a:ext cx="1254128" cy="5254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FC2D5EC8-5B39-E83E-7D0C-47919E4B23AC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 flipV="1">
            <a:off x="5467350" y="2120092"/>
            <a:ext cx="1254128" cy="419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376E5A6-602A-F688-9A84-7AC221D194F4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5467350" y="2539210"/>
            <a:ext cx="125412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52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6C86617-3E90-52B1-5642-FCB9CE01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>
                <a:latin typeface="+mn-lt"/>
              </a:rPr>
              <a:t>Hirschmann et al. 2012</a:t>
            </a:r>
            <a:endParaRPr lang="zh-CN" altLang="en-US" sz="54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0BD6458-AF76-ECCC-D162-74891DA536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9350"/>
                <a:ext cx="10744200" cy="502761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P</a:t>
                </a:r>
                <a:r>
                  <a:rPr lang="zh-CN" altLang="zh-CN" b="1" dirty="0"/>
                  <a:t>rinciple</a:t>
                </a:r>
                <a:r>
                  <a:rPr lang="en-US" altLang="zh-CN" b="1" dirty="0"/>
                  <a:t>: </a:t>
                </a:r>
                <a:r>
                  <a:rPr lang="en-US" altLang="zh-CN" dirty="0"/>
                  <a:t>Measure dissolved H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 concentrations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at controlled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/>
                  <a:t>, then construct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i="1" baseline="-25000" dirty="0">
                            <a:latin typeface="Cambria Math" panose="02040503050406030204" pitchFamily="18" charset="0"/>
                          </a:rPr>
                          <m:t>𝑒𝑞</m:t>
                        </m:r>
                      </m:e>
                    </m:func>
                  </m:oMath>
                </a14:m>
                <a:r>
                  <a:rPr lang="en-US" altLang="zh-CN" dirty="0"/>
                  <a:t>for the reaction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vapor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gas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e>
                      </m:func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magma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sz="2400" b="1" dirty="0"/>
              </a:p>
              <a:p>
                <a:pPr marL="0" indent="0">
                  <a:buNone/>
                </a:pPr>
                <a:r>
                  <a:rPr lang="en-US" altLang="zh-CN" sz="2400" b="1" dirty="0"/>
                  <a:t>Experiment setup:</a:t>
                </a:r>
              </a:p>
              <a:p>
                <a:r>
                  <a:rPr lang="en-US" altLang="zh-CN" sz="2400" dirty="0"/>
                  <a:t>1. series: molten synthetic basalt coexisting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 fluid</a:t>
                </a:r>
              </a:p>
              <a:p>
                <a:r>
                  <a:rPr lang="en-US" altLang="zh-CN" sz="2400" dirty="0"/>
                  <a:t>2. series: molten synthetic andesite coexisting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400" dirty="0"/>
                  <a:t>free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 fluid</a:t>
                </a:r>
              </a:p>
              <a:p>
                <a:r>
                  <a:rPr lang="en-US" altLang="zh-CN" sz="2400" dirty="0"/>
                  <a:t>Pressure: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0.7−3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GPa</m:t>
                    </m:r>
                  </m:oMath>
                </a14:m>
                <a:endParaRPr lang="en-US" altLang="zh-CN" sz="2400" dirty="0"/>
              </a:p>
              <a:p>
                <a:r>
                  <a:rPr lang="en-US" altLang="zh-CN" sz="2400" dirty="0"/>
                  <a:t>Temperature: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1400−1500℃</m:t>
                    </m:r>
                  </m:oMath>
                </a14:m>
                <a:endParaRPr lang="en-US" altLang="zh-CN" sz="2400" dirty="0"/>
              </a:p>
              <a:p>
                <a:r>
                  <a:rPr lang="en-US" altLang="zh-CN" sz="2400" dirty="0"/>
                  <a:t>Fixed f</a:t>
                </a:r>
                <a:r>
                  <a:rPr lang="en-US" altLang="zh-CN" sz="2400" baseline="-25000" dirty="0"/>
                  <a:t>H2</a:t>
                </a:r>
                <a:r>
                  <a:rPr lang="en-US" altLang="zh-CN" sz="2400" dirty="0"/>
                  <a:t> imposed with a double capsule technique.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0BD6458-AF76-ECCC-D162-74891DA536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9350"/>
                <a:ext cx="10744200" cy="5027613"/>
              </a:xfrm>
              <a:blipFill>
                <a:blip r:embed="rId2"/>
                <a:stretch>
                  <a:fillRect l="-1022" t="-1820" b="-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73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227E-07B2-0255-E4E1-32E48592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A9B0C7D-2FC0-DBC5-5144-6C24C747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>
                <a:latin typeface="+mn-lt"/>
              </a:rPr>
              <a:t>Hirschmann et al. 2012</a:t>
            </a:r>
            <a:endParaRPr lang="zh-CN" altLang="en-US" sz="54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7FCA20E-429C-A206-BD97-18141DB4F8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9350"/>
                <a:ext cx="10515600" cy="50276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1. concentration measurement: FTIR from absorption features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/>
                  <a:t> concentration: absorption peak near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4130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𝑂𝐻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CN" sz="2400" dirty="0"/>
                  <a:t> concentrations: </a:t>
                </a:r>
                <a:r>
                  <a:rPr lang="zh-CN" altLang="zh-CN" sz="2400" dirty="0"/>
                  <a:t>combination bands at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4500</m:t>
                    </m:r>
                  </m:oMath>
                </a14:m>
                <a:r>
                  <a:rPr lang="zh-CN" altLang="zh-CN" sz="2400" dirty="0"/>
                  <a:t> and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5200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7FCA20E-429C-A206-BD97-18141DB4F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9350"/>
                <a:ext cx="10515600" cy="5027613"/>
              </a:xfrm>
              <a:blipFill>
                <a:blip r:embed="rId2"/>
                <a:stretch>
                  <a:fillRect l="-1217" t="-2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0B0B133-3864-4B12-0434-59366B153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057" y="2780707"/>
            <a:ext cx="3649886" cy="370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3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6959-5AC5-DF5D-1EA7-840E930E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66C291-336F-5580-418F-2D96AC767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196" y="3131178"/>
            <a:ext cx="3239608" cy="3045785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4487F0EC-69BD-3D40-18BE-980979C4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>
                <a:latin typeface="+mn-lt"/>
              </a:rPr>
              <a:t>Hirschmann et al. 2012</a:t>
            </a:r>
            <a:endParaRPr lang="zh-CN" altLang="en-US" sz="54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ADA9480-6C26-4B82-21F0-AB17D1F921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9350"/>
                <a:ext cx="10515600" cy="50276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2. concentration measurements: SMIS </a:t>
                </a:r>
              </a:p>
              <a:p>
                <a:pPr marL="0" indent="0">
                  <a:buNone/>
                </a:pPr>
                <a:r>
                  <a:rPr lang="zh-CN" altLang="zh-CN" sz="2400" dirty="0"/>
                  <a:t>measures </a:t>
                </a:r>
                <a:r>
                  <a:rPr lang="en-US" altLang="zh-CN" sz="2400" dirty="0"/>
                  <a:t>the </a:t>
                </a:r>
                <a:r>
                  <a:rPr lang="zh-CN" altLang="zh-CN" sz="2400" dirty="0"/>
                  <a:t>total</a:t>
                </a:r>
                <a:r>
                  <a:rPr lang="en-US" altLang="zh-CN" sz="2400" dirty="0"/>
                  <a:t> </a:t>
                </a:r>
                <a:r>
                  <a:rPr lang="zh-CN" altLang="zh-CN" sz="2400" dirty="0"/>
                  <a:t>H</a:t>
                </a:r>
                <a:r>
                  <a:rPr lang="en-US" altLang="zh-CN" sz="2400" dirty="0"/>
                  <a:t> </a:t>
                </a:r>
                <a:r>
                  <a:rPr lang="zh-CN" altLang="zh-CN" sz="2400" dirty="0"/>
                  <a:t>content</a:t>
                </a:r>
                <a:r>
                  <a:rPr lang="en-US" altLang="zh-CN" sz="2400" dirty="0"/>
                  <a:t>: sum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zh-CN" altLang="zh-CN" sz="2400" i="1" dirty="0">
                        <a:latin typeface="Cambria Math" panose="02040503050406030204" pitchFamily="18" charset="0"/>
                      </a:rPr>
                      <m:t>OH</m:t>
                    </m:r>
                    <m:r>
                      <a:rPr lang="en-US" altLang="zh-CN" sz="2400" i="1" baseline="3000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dirty="0"/>
                  <a:t>and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zh-CN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zh-CN" altLang="zh-CN" sz="2400" i="1" dirty="0"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US" altLang="zh-CN" sz="2400" dirty="0"/>
                  <a:t> (only for basalt)</a:t>
                </a:r>
              </a:p>
              <a:p>
                <a:pPr marL="0" indent="0">
                  <a:buNone/>
                </a:pPr>
                <a:endParaRPr lang="en-US" altLang="zh-CN" sz="2400" b="1" dirty="0"/>
              </a:p>
              <a:p>
                <a:pPr marL="0" indent="0" algn="ctr">
                  <a:buNone/>
                </a:pPr>
                <a:r>
                  <a:rPr lang="en-US" altLang="zh-CN" b="1" dirty="0"/>
                  <a:t>FTIR H</a:t>
                </a:r>
                <a:r>
                  <a:rPr lang="en-US" altLang="zh-CN" b="1" baseline="-25000" dirty="0"/>
                  <a:t>2</a:t>
                </a:r>
                <a:r>
                  <a:rPr lang="en-US" altLang="zh-CN" b="1" dirty="0"/>
                  <a:t> </a:t>
                </a:r>
                <a:r>
                  <a:rPr lang="en-US" altLang="zh-CN" dirty="0"/>
                  <a:t>vs.</a:t>
                </a:r>
                <a:r>
                  <a:rPr lang="en-US" altLang="zh-CN" b="1" dirty="0"/>
                  <a:t> (SIMS total H) – (FTIR H</a:t>
                </a:r>
                <a:r>
                  <a:rPr lang="en-US" altLang="zh-CN" b="1" baseline="-25000" dirty="0"/>
                  <a:t>2</a:t>
                </a:r>
                <a:r>
                  <a:rPr lang="en-US" altLang="zh-CN" b="1" dirty="0"/>
                  <a:t>O)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ADA9480-6C26-4B82-21F0-AB17D1F921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9350"/>
                <a:ext cx="10515600" cy="5027613"/>
              </a:xfrm>
              <a:blipFill>
                <a:blip r:embed="rId3"/>
                <a:stretch>
                  <a:fillRect l="-1217" t="-2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419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3B08-AAD3-9964-674D-432F9FC1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8BAE81-BC1F-6FCA-BC82-512137007624}"/>
              </a:ext>
            </a:extLst>
          </p:cNvPr>
          <p:cNvPicPr>
            <a:picLocks/>
          </p:cNvPicPr>
          <p:nvPr/>
        </p:nvPicPr>
        <p:blipFill>
          <a:blip r:embed="rId2"/>
          <a:srcRect t="3925"/>
          <a:stretch>
            <a:fillRect/>
          </a:stretch>
        </p:blipFill>
        <p:spPr>
          <a:xfrm>
            <a:off x="6445250" y="1302589"/>
            <a:ext cx="4908550" cy="4721134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62EAEBE7-A11B-06F9-973F-2B9BC8AC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>
                <a:latin typeface="+mn-lt"/>
              </a:rPr>
              <a:t>Hirschmann et al. 2012</a:t>
            </a:r>
            <a:endParaRPr lang="zh-CN" altLang="en-US" sz="5400" b="1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21A36F1-4E44-E210-9807-D1D2583A1C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9350"/>
                <a:ext cx="10515600" cy="50276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Result:</a:t>
                </a:r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18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func>
                      <m:r>
                        <a:rPr lang="zh-CN" altLang="zh-CN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18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18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800" i="1" dirty="0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zh-CN" altLang="zh-CN" sz="18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  <m:t>magma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18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800" i="1" dirty="0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zh-CN" altLang="zh-CN" sz="18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zh-CN" altLang="zh-CN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18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  <m:r>
                        <a:rPr lang="zh-CN" altLang="zh-CN" sz="18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sz="180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zh-CN" altLang="zh-CN" sz="18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sz="180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zh-CN" sz="18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zh-CN" sz="18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8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 = 1400 ℃</m:t>
                      </m:r>
                    </m:oMath>
                  </m:oMathPara>
                </a14:m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180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 bar</a:t>
                </a:r>
              </a:p>
              <a:p>
                <a:pPr marL="0" indent="0">
                  <a:buNone/>
                </a:pPr>
                <a:endParaRPr lang="en-US" altLang="zh-C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zh-CN" sz="18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(basalt) =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0.76</m:t>
                    </m:r>
                    <m:sSup>
                      <m:sSup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8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GPa</m:t>
                            </m:r>
                          </m:e>
                        </m:d>
                      </m:e>
                      <m:sup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=10.6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lit/>
                      </m:rP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𝑚𝑜𝑙𝑒</m:t>
                    </m:r>
                  </m:oMath>
                </a14:m>
                <a:endParaRPr lang="en-US" altLang="zh-C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zh-CN" sz="18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zh-CN" sz="18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(andesite) =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0.81</m:t>
                    </m:r>
                    <m:sSup>
                      <m:sSup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800" i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GPa</m:t>
                            </m:r>
                          </m:e>
                        </m:d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=11.3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lit/>
                      </m:rP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𝑚𝑜𝑙𝑒</m:t>
                    </m:r>
                  </m:oMath>
                </a14:m>
                <a:endParaRPr lang="en-US" altLang="zh-C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21A36F1-4E44-E210-9807-D1D2583A1C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9350"/>
                <a:ext cx="10515600" cy="5027613"/>
              </a:xfrm>
              <a:blipFill>
                <a:blip r:embed="rId3"/>
                <a:stretch>
                  <a:fillRect l="-1217" t="-2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70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D0CC7-71DF-6837-E3BF-1C5EBF9F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D0C69B6-09EF-299A-6352-B2F2398430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9350"/>
                <a:ext cx="10515600" cy="50863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Discussion: Difference in lnK</a:t>
                </a:r>
                <a:r>
                  <a:rPr lang="en-US" altLang="zh-CN" b="1" baseline="-25000" dirty="0"/>
                  <a:t>0</a:t>
                </a:r>
                <a:r>
                  <a:rPr lang="en-US" altLang="zh-CN" b="1" dirty="0"/>
                  <a:t> due to ionic porosity (IP)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IP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basalt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= 45.6 </m:t>
                    </m:r>
                  </m:oMath>
                </a14:m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basalt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= −11.4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IP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andesite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)=48.3</m:t>
                    </m:r>
                  </m:oMath>
                </a14:m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andesite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 = −10.6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IP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 = 1  </m:t>
                    </m:r>
                  </m:oMath>
                </a14:m>
                <a:r>
                  <a:rPr lang="en-US" altLang="zh-CN" dirty="0"/>
                  <a:t>→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≈ 0.3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b="1" dirty="0"/>
                  <a:t>Extrapolate to </a:t>
                </a:r>
                <a:r>
                  <a:rPr lang="zh-CN" altLang="zh-CN" b="1" dirty="0"/>
                  <a:t>peridotite</a:t>
                </a:r>
                <a:r>
                  <a:rPr lang="en-US" altLang="zh-CN" b="1" dirty="0"/>
                  <a:t>/magma ocean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IP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 = 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42.1</m:t>
                    </m:r>
                  </m:oMath>
                </a14:m>
                <a:r>
                  <a:rPr lang="en-US" altLang="zh-CN" b="1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altLang="zh-CN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magma</m:t>
                            </m:r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ocean</m:t>
                            </m:r>
                          </m:e>
                        </m:d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−12.5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D0C69B6-09EF-299A-6352-B2F2398430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9350"/>
                <a:ext cx="10515600" cy="5086349"/>
              </a:xfrm>
              <a:blipFill>
                <a:blip r:embed="rId2"/>
                <a:stretch>
                  <a:fillRect l="-1217" t="-2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357F525D-15B0-4EED-9D46-DC1562C5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>
                <a:latin typeface="+mn-lt"/>
              </a:rPr>
              <a:t>Hirschmann et al. 2012</a:t>
            </a:r>
            <a:endParaRPr lang="zh-CN" altLang="en-US" sz="5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140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EC9B-72C4-C54C-A6A1-A81403E37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4310F41-1B8D-DEFD-40EB-95E1676DD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>
                <a:latin typeface="+mn-lt"/>
              </a:rPr>
              <a:t>Treatment in the model</a:t>
            </a:r>
            <a:endParaRPr lang="zh-CN" altLang="en-US" sz="3200" b="1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47E29E7-2FD5-92D8-C2B6-47D12BD79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08050"/>
                <a:ext cx="10515600" cy="581660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For magma ocean:  </a:t>
                </a:r>
              </a:p>
              <a:p>
                <a:pPr marL="0" indent="0">
                  <a:buNone/>
                </a:pPr>
                <a:endParaRPr lang="en-US" altLang="zh-CN" sz="21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1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1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10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100" b="0" i="1" dirty="0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1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1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100" i="1" dirty="0">
                                  <a:latin typeface="Cambria Math" panose="02040503050406030204" pitchFamily="18" charset="0"/>
                                </a:rPr>
                                <m:t>=1400</m:t>
                              </m:r>
                              <m:r>
                                <a:rPr lang="en-US" altLang="zh-CN" sz="2100" i="1" dirty="0" smtClean="0">
                                  <a:latin typeface="Cambria Math" panose="02040503050406030204" pitchFamily="18" charset="0"/>
                                </a:rPr>
                                <m:t>℃</m:t>
                              </m:r>
                              <m:r>
                                <a:rPr lang="en-US" altLang="zh-CN" sz="21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en-US" altLang="zh-CN" sz="2100" i="1" dirty="0">
                          <a:latin typeface="Cambria Math" panose="02040503050406030204" pitchFamily="18" charset="0"/>
                        </a:rPr>
                        <m:t>=−12.5−0.76</m:t>
                      </m:r>
                      <m:r>
                        <a:rPr lang="en-US" altLang="zh-CN" sz="21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1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100" i="1" dirty="0" smtClean="0">
                              <a:latin typeface="Cambria Math" panose="02040503050406030204" pitchFamily="18" charset="0"/>
                            </a:rPr>
                            <m:t>GPa</m:t>
                          </m:r>
                        </m:e>
                      </m:d>
                    </m:oMath>
                  </m:oMathPara>
                </a14:m>
              </a:p>
              <a:p>
                <a:pPr marL="0" indent="0">
                  <a:buNone/>
                </a:pPr>
                <a:endParaRPr lang="en-US" altLang="zh-CN" sz="21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/>
                  <a:t>Add T dependence:  </a:t>
                </a:r>
              </a:p>
              <a:p>
                <a:pPr marL="0" indent="0">
                  <a:buNone/>
                </a:pPr>
                <a:endParaRPr lang="en-US" altLang="zh-CN" sz="19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9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900" b="0" i="1" dirty="0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en-US" altLang="zh-CN" sz="190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1900" b="0" i="1" dirty="0" smtClean="0">
                          <a:latin typeface="Cambria Math" panose="02040503050406030204" pitchFamily="18" charset="0"/>
                        </a:rPr>
                        <m:t>12.5−0.76×</m:t>
                      </m:r>
                      <m:f>
                        <m:fPr>
                          <m:ctrlP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  <m:t>1673</m:t>
                          </m:r>
                        </m:num>
                        <m:den>
                          <m: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19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  <m:t>𝐺𝑃𝑎</m:t>
                          </m:r>
                        </m:e>
                      </m:d>
                      <m:r>
                        <a:rPr lang="en-US" altLang="zh-CN" sz="19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19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sz="19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zh-CN" sz="19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zh-CN" sz="19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zh-CN" altLang="zh-CN" sz="19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19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sz="19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zh-CN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9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zh-CN" sz="19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zh-CN" sz="19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19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sz="19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zh-CN" sz="19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b="1" dirty="0"/>
                  <a:t>Assume a constant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baseline="-25000" dirty="0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zh-CN" b="1" dirty="0"/>
                  <a:t>: </a:t>
                </a:r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9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CN" sz="19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900" b="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19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90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sz="19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9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900" i="1" dirty="0" smtClean="0">
                                <a:latin typeface="Cambria Math" panose="02040503050406030204" pitchFamily="18" charset="0"/>
                              </a:rPr>
                              <m:t>melt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90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sz="19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9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900" i="1" dirty="0" smtClean="0">
                                <a:latin typeface="Cambria Math" panose="02040503050406030204" pitchFamily="18" charset="0"/>
                              </a:rPr>
                              <m:t>gas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900" i="1" dirty="0">
                    <a:latin typeface="Cambria Math" panose="02040503050406030204" pitchFamily="18" charset="0"/>
                  </a:rPr>
                  <a:t>  </a:t>
                </a:r>
                <a:r>
                  <a:rPr lang="en-US" altLang="zh-CN" sz="1900" dirty="0"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900" i="1" dirty="0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altLang="zh-CN" sz="1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9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zh-CN" sz="1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/>
                  <a:t>K</a:t>
                </a:r>
                <a:r>
                  <a:rPr lang="en-US" altLang="zh-CN" b="1" baseline="-25000" dirty="0"/>
                  <a:t>D</a:t>
                </a:r>
                <a:r>
                  <a:rPr lang="en-US" altLang="zh-CN" b="1" dirty="0"/>
                  <a:t> construction in paper:   </a:t>
                </a:r>
              </a:p>
              <a:p>
                <a:pPr marL="0" indent="0">
                  <a:buNone/>
                </a:pPr>
                <a:endParaRPr lang="en-US" altLang="zh-CN" sz="1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9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90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func>
                      <m:r>
                        <a:rPr lang="en-US" altLang="zh-CN" sz="19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9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19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sz="1900" i="1" baseline="-25000" dirty="0">
                              <a:latin typeface="Cambria Math" panose="02040503050406030204" pitchFamily="18" charset="0"/>
                            </a:rPr>
                            <m:t>𝑒𝑞</m:t>
                          </m:r>
                          <m:d>
                            <m:dPr>
                              <m:ctrlP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900" i="0" dirty="0">
                                  <a:latin typeface="Cambria Math" panose="02040503050406030204" pitchFamily="18" charset="0"/>
                                </a:rPr>
                                <m:t>GPa</m:t>
                              </m:r>
                            </m:e>
                          </m:d>
                        </m:e>
                      </m:func>
                      <m:r>
                        <a:rPr lang="en-US" altLang="zh-CN" sz="19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1900" b="0" i="0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9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sz="1900" b="0" i="1" dirty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1900" b="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altLang="zh-CN" sz="1900" b="0" i="1" baseline="30000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47E29E7-2FD5-92D8-C2B6-47D12BD79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08050"/>
                <a:ext cx="10515600" cy="5816601"/>
              </a:xfrm>
              <a:blipFill>
                <a:blip r:embed="rId3"/>
                <a:stretch>
                  <a:fillRect l="-1043" t="-2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1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D08EB-A0AE-9271-FC01-5BE54B2B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443C6E9-50FB-BF1A-EB78-B4DE6ABC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>
                <a:latin typeface="+mn-lt"/>
              </a:rPr>
              <a:t>Treatment in code</a:t>
            </a:r>
            <a:endParaRPr lang="zh-CN" altLang="en-US" sz="3200" b="1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F7EC28C-9A1D-B6CE-89C1-649D1F617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08050"/>
                <a:ext cx="10515600" cy="58166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K</a:t>
                </a:r>
                <a:r>
                  <a:rPr lang="en-US" altLang="zh-CN" b="1" baseline="-25000" dirty="0"/>
                  <a:t>D</a:t>
                </a:r>
                <a:r>
                  <a:rPr lang="en-US" altLang="zh-CN" b="1" dirty="0"/>
                  <a:t> construction in code:  </a:t>
                </a:r>
              </a:p>
              <a:p>
                <a:pPr marL="0" indent="0">
                  <a:buNone/>
                </a:pPr>
                <a:endParaRPr lang="en-US" altLang="zh-CN" sz="19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9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90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func>
                      <m:r>
                        <a:rPr lang="en-US" altLang="zh-CN" sz="19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9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9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900" b="0" i="1" dirty="0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9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19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=1400℃,1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900" i="1" dirty="0" smtClean="0">
                                  <a:latin typeface="Cambria Math" panose="02040503050406030204" pitchFamily="18" charset="0"/>
                                </a:rPr>
                                <m:t>bar</m:t>
                              </m:r>
                            </m:e>
                          </m:d>
                        </m:e>
                      </m:func>
                      <m:r>
                        <a:rPr lang="en-US" altLang="zh-CN" sz="19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1900" b="0" i="0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9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altLang="zh-CN" sz="19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lit/>
                                  <m:sty m:val="p"/>
                                </m:rPr>
                                <a:rPr lang="en-US" altLang="zh-CN" sz="1900" b="0" i="1" dirty="0" smtClean="0">
                                  <a:latin typeface="Cambria Math" panose="02040503050406030204" pitchFamily="18" charset="0"/>
                                </a:rPr>
                                <m:t>GPa</m:t>
                              </m:r>
                              <m:r>
                                <m:rPr>
                                  <m:lit/>
                                </m:rPr>
                                <a:rPr lang="en-US" altLang="zh-CN" sz="1900" i="1" dirty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900" i="1" dirty="0" smtClean="0">
                                  <a:latin typeface="Cambria Math" panose="02040503050406030204" pitchFamily="18" charset="0"/>
                                </a:rPr>
                                <m:t>bar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  <a:p>
                <a:pPr marL="0" indent="0" algn="ctr">
                  <a:buNone/>
                </a:pPr>
                <a:endParaRPr lang="en-US" altLang="zh-CN" sz="1900" b="1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F7EC28C-9A1D-B6CE-89C1-649D1F617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08050"/>
                <a:ext cx="10515600" cy="5816601"/>
              </a:xfrm>
              <a:blipFill>
                <a:blip r:embed="rId3"/>
                <a:stretch>
                  <a:fillRect l="-1217" t="-19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CEA62BA-6583-7E97-30E7-495043611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33928"/>
            <a:ext cx="5727913" cy="39878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4DF11F-94E3-31B6-E909-4235E7CACC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33928"/>
            <a:ext cx="5610082" cy="17240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BD6888-40BE-A932-E505-54BB31C245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80921"/>
            <a:ext cx="3985945" cy="11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86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848BF-7F1D-8307-B742-565783BF6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5EE0DD6-C117-940B-2F1F-64BC989CE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>
                <a:latin typeface="+mn-lt"/>
              </a:rPr>
              <a:t>Mistake in the last discussion</a:t>
            </a:r>
            <a:endParaRPr lang="zh-CN" altLang="en-US" sz="3200" b="1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C0027BB-80A6-59D5-213E-267AF83836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08050"/>
                <a:ext cx="10515600" cy="58166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Hirschmann results: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180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altLang="zh-CN" sz="1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=1400℃,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zh-CN" altLang="zh-CN" sz="18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180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zh-CN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zh-CN" sz="18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8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zh-CN" altLang="zh-CN" sz="1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zh-CN" sz="1800" i="1" dirty="0">
                                      <a:latin typeface="Cambria Math" panose="02040503050406030204" pitchFamily="18" charset="0"/>
                                    </a:rPr>
                                    <m:t>magma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zh-CN" altLang="zh-CN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8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8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zh-CN" altLang="zh-CN" sz="1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zh-CN" altLang="zh-CN" sz="18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180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1400℃,</m:t>
                              </m:r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bar</m:t>
                              </m:r>
                            </m:e>
                          </m:d>
                        </m:e>
                      </m:func>
                      <m:r>
                        <a:rPr lang="zh-CN" altLang="zh-CN" sz="18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sz="18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18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altLang="zh-CN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18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=1400℃,</m:t>
                              </m:r>
                              <m:r>
                                <a:rPr lang="en-US" altLang="zh-CN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11.4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−0.76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8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d>
                        <m:d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for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basalt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=1400℃,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81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</m:t>
                          </m:r>
                        </m:e>
                      </m:d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andesite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zh-CN" sz="180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zh-CN" sz="18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80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basalt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0.76</m:t>
                      </m:r>
                      <m:sSup>
                        <m:sSup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GPa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=10.6 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m:rPr>
                          <m:lit/>
                        </m:rP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𝑚𝑜𝑙𝑒</m:t>
                      </m:r>
                    </m:oMath>
                  </m:oMathPara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zh-CN" sz="18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zh-CN" sz="18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80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andesite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0.81</m:t>
                      </m:r>
                      <m:sSup>
                        <m:sSup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GPa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=11.3 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m:rPr>
                          <m:lit/>
                        </m:rP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𝑚𝑜𝑙𝑒</m:t>
                      </m:r>
                    </m:oMath>
                  </m:oMathPara>
                </a14:m>
              </a:p>
              <a:p>
                <a:pPr marL="0" indent="0">
                  <a:buNone/>
                </a:pPr>
              </a:p>
              <a:p>
                <a:pPr marL="0" indent="0">
                  <a:buNone/>
                </a:pPr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/>
                  <a:t>Extrapolate to other temperatures (Schlichting):</a:t>
                </a:r>
              </a:p>
              <a:p>
                <a:pPr marL="0" indent="0">
                  <a:buNone/>
                </a:pPr>
                <a:endParaRPr lang="en-US" altLang="zh-CN" sz="18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sz="18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  <m:d>
                        <m:d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magma</m:t>
                          </m:r>
                          <m:r>
                            <a:rPr lang="en-US" altLang="zh-CN" sz="1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ocean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sz="18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basalt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=0.76×</m:t>
                      </m:r>
                      <m:f>
                        <m:f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1673</m:t>
                          </m:r>
                        </m:num>
                        <m:den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1271.48</m:t>
                          </m:r>
                        </m:num>
                        <m:den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</a:p>
              <a:p>
                <a:pPr marL="0" indent="0">
                  <a:buNone/>
                </a:pPr>
              </a:p>
              <a:p>
                <a:pPr marL="0" indent="0">
                  <a:buNone/>
                </a:pPr>
                <a:endParaRPr lang="en-US" altLang="zh-CN" b="1" dirty="0"/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C0027BB-80A6-59D5-213E-267AF8383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08050"/>
                <a:ext cx="10515600" cy="5816601"/>
              </a:xfrm>
              <a:blipFill>
                <a:blip r:embed="rId3"/>
                <a:stretch>
                  <a:fillRect l="-1217" t="-19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BC33380-90BB-0476-3E9E-7F7F375FE664}"/>
              </a:ext>
            </a:extLst>
          </p:cNvPr>
          <p:cNvPicPr>
            <a:picLocks/>
          </p:cNvPicPr>
          <p:nvPr/>
        </p:nvPicPr>
        <p:blipFill>
          <a:blip r:embed="rId4"/>
          <a:srcRect t="3925"/>
          <a:stretch>
            <a:fillRect/>
          </a:stretch>
        </p:blipFill>
        <p:spPr>
          <a:xfrm>
            <a:off x="7994650" y="908050"/>
            <a:ext cx="380365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17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C48B4-4503-E350-951E-A4793A2D0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645044-150E-B167-EF93-B89843E74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428" y="4496758"/>
            <a:ext cx="3315572" cy="1270000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C4348067-77AE-FB9C-BE9B-CA43A835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98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zh-CN" sz="3200" b="1" dirty="0">
                <a:latin typeface="+mn-lt"/>
              </a:rPr>
              <a:t>Verify results extrapolated to 10 GPa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F77A7-FD43-5320-4261-B3176A5BA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422" y="684893"/>
            <a:ext cx="5215156" cy="13790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B02237-96BE-8070-EAD5-788C73BC50E5}"/>
                  </a:ext>
                </a:extLst>
              </p:cNvPr>
              <p:cNvSpPr txBox="1"/>
              <p:nvPr/>
            </p:nvSpPr>
            <p:spPr>
              <a:xfrm>
                <a:off x="1069975" y="2063977"/>
                <a:ext cx="10052050" cy="4865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 dirty="0"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func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e>
                      </m:func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m:rPr>
                              <m:lit/>
                            </m:r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altLang="zh-CN" sz="1800" i="0" dirty="0" smtClean="0">
                              <a:latin typeface="Cambria Math" panose="02040503050406030204" pitchFamily="18" charset="0"/>
                            </a:rPr>
                            <m:t>bar</m:t>
                          </m:r>
                          <m: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/>
              </a:p>
              <a:p>
                <a:pPr marL="0" indent="0">
                  <a:buNone/>
                </a:pPr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b="1" dirty="0"/>
                  <a:t>For the ideal case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=0</m:t>
                    </m:r>
                  </m:oMath>
                </a14:m>
                <a:r>
                  <a:rPr lang="en-US" altLang="zh-CN" b="1" dirty="0"/>
                  <a:t>):</a:t>
                </a:r>
                <a14:m>
                  <m:oMath xmlns:m="http://schemas.openxmlformats.org/officeDocument/2006/math">
                    <m:r>
                      <a:rPr lang="en-US" altLang="zh-CN" b="1" i="0" dirty="0" smtClean="0"/>
                      <m:t> 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func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</a:rPr>
                            <m:t>𝑒𝑞</m:t>
                          </m:r>
                        </m:e>
                      </m:func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=1400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℃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10 </m:t>
                          </m:r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GPa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10×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altLang="zh-CN" i="1" baseline="30000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func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=−8.58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=1.865×</m:t>
                      </m:r>
                      <m:sSup>
                        <m:sSup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1" dirty="0"/>
                        <m:t>For</m:t>
                      </m:r>
                      <m:r>
                        <m:rPr>
                          <m:nor/>
                        </m:rPr>
                        <a:rPr lang="en-US" altLang="zh-CN" b="1" dirty="0"/>
                        <m:t> </m:t>
                      </m:r>
                      <m:r>
                        <m:rPr>
                          <m:nor/>
                        </m:rPr>
                        <a:rPr lang="en-US" altLang="zh-CN" b="1" dirty="0"/>
                        <m:t>the</m:t>
                      </m:r>
                      <m:r>
                        <m:rPr>
                          <m:nor/>
                        </m:rPr>
                        <a:rPr lang="en-US" altLang="zh-CN" b="1" dirty="0"/>
                        <m:t> </m:t>
                      </m:r>
                      <m:r>
                        <m:rPr>
                          <m:nor/>
                        </m:rPr>
                        <a:rPr lang="en-US" altLang="zh-CN" b="1" i="0" dirty="0" smtClean="0"/>
                        <m:t>non</m:t>
                      </m:r>
                      <m:r>
                        <m:rPr>
                          <m:nor/>
                        </m:rPr>
                        <a:rPr lang="en-US" altLang="zh-CN" b="1" dirty="0"/>
                        <m:t>ideal</m:t>
                      </m:r>
                      <m:r>
                        <m:rPr>
                          <m:nor/>
                        </m:rPr>
                        <a:rPr lang="en-US" altLang="zh-CN" b="1" dirty="0"/>
                        <m:t> </m:t>
                      </m:r>
                      <m:r>
                        <m:rPr>
                          <m:nor/>
                        </m:rPr>
                        <a:rPr lang="en-US" altLang="zh-CN" b="1" dirty="0"/>
                        <m:t>case</m:t>
                      </m:r>
                      <m:r>
                        <m:rPr>
                          <m:nor/>
                        </m:rPr>
                        <a:rPr lang="en-US" altLang="zh-CN" b="1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CN" b="1" dirty="0"/>
                        <m:t>(</m:t>
                      </m:r>
                      <m:r>
                        <m:rPr>
                          <m:sty m:val="p"/>
                        </m:rPr>
                        <a:rPr lang="el-GR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l-GR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m:rPr>
                          <m:nor/>
                        </m:rPr>
                        <a:rPr lang="en-US" altLang="zh-CN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n-US" altLang="zh-CN" b="1" dirty="0"/>
                        <m:t>):</m:t>
                      </m:r>
                    </m:oMath>
                  </m:oMathPara>
                </a14:m>
                <a:endParaRPr lang="en-US" altLang="zh-CN" b="1" i="1" dirty="0"/>
              </a:p>
              <a:p>
                <a:pPr/>
                <a:endParaRPr lang="en-US" altLang="zh-CN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func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</a:rPr>
                            <m:t>𝑒𝑞</m:t>
                          </m:r>
                        </m:e>
                      </m:func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=1400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℃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10 </m:t>
                          </m:r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GPa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10×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altLang="zh-CN" i="1" baseline="30000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func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6.795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1.119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14:m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B02237-96BE-8070-EAD5-788C73BC5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975" y="2063977"/>
                <a:ext cx="10052050" cy="4865563"/>
              </a:xfrm>
              <a:prstGeom prst="rect">
                <a:avLst/>
              </a:prstGeom>
              <a:blipFill>
                <a:blip r:embed="rId5"/>
                <a:stretch>
                  <a:fillRect l="-546" t="-877" b="-10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703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84953-63A9-8D4F-D967-7BC478D3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>
                <a:extLst>
                  <a:ext uri="{FF2B5EF4-FFF2-40B4-BE49-F238E27FC236}">
                    <a16:creationId xmlns:a16="http://schemas.microsoft.com/office/drawing/2014/main" id="{77597DC6-CF24-1F83-B815-7065AAD2A7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-111125"/>
                <a:ext cx="105156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3200" b="1" i="0" dirty="0" smtClean="0">
                        <a:latin typeface="+mn-lt"/>
                      </a:rPr>
                      <m:t>𝐂𝐚𝐥𝐜𝐮𝐥𝐚𝐭𝐞</m:t>
                    </m:r>
                  </m:oMath>
                </a14:m>
                <a:r>
                  <a:rPr lang="zh-CN" altLang="en-US" sz="3200" b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zh-CN" sz="32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zh-CN" sz="3200" i="1" dirty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zh-CN" altLang="zh-CN" sz="3200" i="1" dirty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zh-CN" altLang="en-US" sz="3200" b="1" dirty="0">
                  <a:latin typeface="+mn-lt"/>
                </a:endParaRPr>
              </a:p>
            </p:txBody>
          </p:sp>
        </mc:Choice>
        <mc:Fallback>
          <p:sp>
            <p:nvSpPr>
              <p:cNvPr id="4" name="标题 1">
                <a:extLst>
                  <a:ext uri="{FF2B5EF4-FFF2-40B4-BE49-F238E27FC236}">
                    <a16:creationId xmlns:a16="http://schemas.microsoft.com/office/drawing/2014/main" id="{77597DC6-CF24-1F83-B815-7065AAD2A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-111125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3087CD5-CD24-FD12-4A74-52130B077C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59666"/>
                <a:ext cx="10515600" cy="426498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1800" b="1" dirty="0"/>
                  <a:t>Extrapolate Hirschmann result to </a:t>
                </a:r>
                <a14:m>
                  <m:oMath xmlns:m="http://schemas.openxmlformats.org/officeDocument/2006/math">
                    <m:r>
                      <a:rPr lang="en-US" altLang="zh-CN" sz="18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𝟏𝟒𝟎𝟎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℃:</m:t>
                    </m:r>
                  </m:oMath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en-US" altLang="zh-CN" sz="1800" i="1" dirty="0">
                          <a:latin typeface="Cambria Math" panose="02040503050406030204" pitchFamily="18" charset="0"/>
                        </a:rPr>
                        <m:t>=−12.5−0.76×</m:t>
                      </m:r>
                      <m:f>
                        <m:f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1673</m:t>
                          </m:r>
                        </m:num>
                        <m:den>
                          <m: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18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800" i="0" dirty="0">
                              <a:latin typeface="Cambria Math" panose="02040503050406030204" pitchFamily="18" charset="0"/>
                            </a:rPr>
                            <m:t>GPa</m:t>
                          </m:r>
                        </m:e>
                      </m:d>
                      <m:r>
                        <a:rPr lang="en-US" altLang="zh-CN" sz="18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sz="18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zh-CN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8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zh-CN" sz="18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zh-CN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func>
                      <m:r>
                        <a:rPr lang="en-US" altLang="zh-CN" sz="18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,3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  <m:t>GPa</m:t>
                              </m:r>
                            </m:e>
                          </m:d>
                        </m:e>
                      </m:func>
                      <m:r>
                        <a:rPr lang="en-US" altLang="zh-CN" sz="18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(3 </m:t>
                          </m:r>
                          <m:r>
                            <m:rPr>
                              <m:sty m:val="p"/>
                            </m:r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GPa</m:t>
                          </m:r>
                          <m:r>
                            <m:rPr>
                              <m:lit/>
                            </m:r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</a:rPr>
                            <m:t>bar</m:t>
                          </m:r>
                          <m:r>
                            <a:rPr lang="en-US" altLang="zh-CN" sz="1800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=3500</m:t>
                      </m:r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3500</m:t>
                          </m:r>
                          <m:r>
                            <m:rPr>
                              <m:sty m:val="p"/>
                            </m:r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=0.1:</m:t>
                      </m:r>
                    </m:oMath>
                  </m:oMathPara>
                </a14:m>
                <a:endParaRPr lang="en-US" altLang="zh-CN" sz="18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sz="18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143.7 </m:t>
                      </m:r>
                      <m:r>
                        <m:rPr>
                          <m:sty m:val="p"/>
                        </m:rPr>
                        <a:rPr lang="en-US" altLang="zh-CN" sz="1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n-US" altLang="zh-CN" sz="1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800" dirty="0">
                          <a:latin typeface="Cambria Math" panose="02040503050406030204" pitchFamily="18" charset="0"/>
                        </a:rPr>
                        <m:t>=6000</m:t>
                      </m:r>
                      <m:r>
                        <a:rPr lang="en-US" altLang="zh-CN" sz="1800" dirty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1800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dirty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dirty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m:rPr>
                              <m:sty m:val="p"/>
                            </m:r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  <m:r>
                        <a:rPr lang="en-US" altLang="zh-CN" sz="1800" dirty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1800" dirty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zh-CN" sz="18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zh-CN" sz="18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3773.9 </m:t>
                      </m:r>
                      <m:r>
                        <m:rPr>
                          <m:sty m:val="p"/>
                        </m:rPr>
                        <a:rPr lang="en-US" altLang="zh-CN" sz="18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n-US" altLang="zh-C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/>
              </a:p>
              <a:p>
                <a:pPr marL="0" indent="0">
                  <a:buNone/>
                </a:pPr>
                <a:endParaRPr lang="en-US" altLang="zh-CN" b="1" dirty="0"/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3087CD5-CD24-FD12-4A74-52130B077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59666"/>
                <a:ext cx="10515600" cy="4264986"/>
              </a:xfrm>
              <a:blipFill>
                <a:blip r:embed="rId4"/>
                <a:stretch>
                  <a:fillRect l="-522" t="-1286" b="-15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C4FB9D9-C116-162A-007F-4D32970082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416" y="914629"/>
            <a:ext cx="4553168" cy="137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7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2692</TotalTime>
  <Words>881</Words>
  <Application>Microsoft Office PowerPoint</Application>
  <PresentationFormat>Widescreen</PresentationFormat>
  <Paragraphs>189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Arial</vt:lpstr>
      <vt:lpstr>Cambria Math</vt:lpstr>
      <vt:lpstr>Office 主题​​</vt:lpstr>
      <vt:lpstr>Aim of the project</vt:lpstr>
      <vt:lpstr>Project Frame</vt:lpstr>
      <vt:lpstr>Equations</vt:lpstr>
      <vt:lpstr>Equations</vt:lpstr>
      <vt:lpstr>Solver</vt:lpstr>
      <vt:lpstr>PowerPoint Presentation</vt:lpstr>
      <vt:lpstr>Hirschmann et al. 2012</vt:lpstr>
      <vt:lpstr>Hirschmann et al. 2012</vt:lpstr>
      <vt:lpstr>Hirschmann et al. 2012</vt:lpstr>
      <vt:lpstr>Hirschmann et al. 2012</vt:lpstr>
      <vt:lpstr>Hirschmann et al. 2012</vt:lpstr>
      <vt:lpstr>Treatment in the model</vt:lpstr>
      <vt:lpstr>Treatment in code</vt:lpstr>
      <vt:lpstr>Mistake in the last discussion</vt:lpstr>
      <vt:lpstr>Verify results extrapolated to 10 GPa</vt:lpstr>
      <vt:lpstr>Calculate ΔH/R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Zhong</dc:creator>
  <cp:lastModifiedBy>Min Zhong</cp:lastModifiedBy>
  <cp:revision>24</cp:revision>
  <dcterms:created xsi:type="dcterms:W3CDTF">2026-04-05T22:57:44Z</dcterms:created>
  <dcterms:modified xsi:type="dcterms:W3CDTF">2026-06-26T03:56:58Z</dcterms:modified>
</cp:coreProperties>
</file>
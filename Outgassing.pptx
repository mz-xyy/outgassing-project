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44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B8E2A7-10B5-D02A-B719-CD1BF4DB5C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1904AC2-79D3-2755-FD46-A4E6014E7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F4BF83-E5B3-531A-305B-4D0DC0EE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E6DA0B-2DA6-44FB-4BB9-38594027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50F47-DE7B-DC58-D396-AE0E760AE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222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4943B-FE77-AD52-E681-D83CE53BF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40045C-1BFF-E3CA-7E31-C543467D5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6A28BA-4CD9-FA6F-6124-46A6F9D94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3648EE-8566-B197-23F1-0EB02F3B9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1F13C6-C6F8-8A6E-62DF-56E2FE77C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019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85537C-F323-02E9-FE94-F0836FB16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110A89-A616-8328-28AE-34268968F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4C0611-DB9B-BBE6-7411-D152B2596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81DA8A-8E57-8B9D-FFE9-9FD96C22F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440232-E741-C899-D0CA-2CC72A6A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9185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333B92-EFE7-DD93-8C5D-1E5A56E50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86448E-3F3C-FE80-29EA-7FD32E648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512BA46-47BA-72FB-07A3-67E4859D87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5572AB-C704-C249-81A0-CC2E1C9E5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3A6D444-7385-3A40-48B0-B55E9394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65BC92-2AEB-D3BE-5105-6B2688C36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3468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DE7529-ED03-56A3-BD9F-B3D3131DF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3C31862-C8C1-6389-2511-0064AA4E82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E93806B-714F-4EB4-BD2C-4D3BDFCB8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A058EDE-2466-E994-27A8-15634CEC7F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5F26653-FA51-EC5E-7F8A-E7745FB525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9A7A6E5-830F-B8F9-2AAF-1284A07D6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41E456D-A657-7735-E9F0-2C394C5A8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B108A26-4BD5-4ADC-D5E9-00E9E3C9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3026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605468-3846-D0B6-8D3D-3D859058A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1271AC5-09DD-1D66-B9E5-4B14ED87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2C4703C-6787-F123-9A7E-91D0F6189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7895EB4-033E-F201-1D8E-E1F447907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691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7A195B9-CFC1-F54A-7615-AF8DCC028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F4068BF-35B5-23F8-4D1F-D342E4414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250677-F1FF-7948-8C9F-448BD646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18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59FA0-AFC9-A044-0616-A71C421B2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B713B6-8DDE-F65B-D618-F82B0598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49D4DD8-900C-2776-B893-7232C435E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80566B-0DC2-E622-064A-4E53CB9D6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2C080D-52A2-294F-CC07-D27ED85C1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0051B4C-DD53-1CD0-568E-36C2ECE60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585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3EE88E-2089-3B96-08F0-910A5B380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95F4C11-69CD-42E3-A529-BE47BB2B85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E8253B-14A5-FB0D-33E6-3105E7BE92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4675FED-0897-1A79-5DBA-08954637E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A65C34-1009-E29E-65E2-3F7F8903F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2618B5-1AB0-B64A-759F-A4D0F5B3C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693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83A45B-E32A-9CE7-647C-BFAEC4C2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09C8BE-E88F-6FC7-B4E3-3C9814BB6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323745-B979-DD91-985C-4857BB324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8DD8D2-3B91-3E03-53EE-8A6D7A0B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CDF557-F5B7-86EE-0F36-87789F0DD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33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E195FFE-6C2F-59E3-2E30-12B90462C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0267D59-80F8-CF1F-A479-1E5BF227F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EA78CF-5936-B7DA-E1D7-3D279F1F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461BB5-7BA6-A444-DD2B-41214A78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025AD-05C5-1808-E033-3BF2C8F91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59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FF57192-C0B9-62A9-496B-B3CCEBA30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A11704E-8BCB-97CD-E814-4A341F551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B366ED-57B9-BD47-E709-0DA892C90E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397AFB-B224-47F3-8384-C07EA01A85EB}" type="datetimeFigureOut">
              <a:rPr lang="zh-CN" altLang="en-US" smtClean="0"/>
              <a:t>2026/6/18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91AE8C-83EF-53F6-FD0B-6E1A342E3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1A04A-EDA7-4F4E-080D-D7FC43B8D2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D87788-CF67-4B92-8466-56EB3C3081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21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0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10" Type="http://schemas.openxmlformats.org/officeDocument/2006/relationships/image" Target="../media/image13.png"/><Relationship Id="rId4" Type="http://schemas.openxmlformats.org/officeDocument/2006/relationships/image" Target="../media/image70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1441D0-EC29-A7B1-B6EC-8925E05B5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30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Aim of the project</a:t>
            </a:r>
            <a:endParaRPr lang="zh-CN" altLang="en-US" sz="54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5AD183E2-1BE5-1FF5-EF0C-E17C25F6DE56}"/>
                  </a:ext>
                </a:extLst>
              </p:cNvPr>
              <p:cNvSpPr txBox="1"/>
              <p:nvPr/>
            </p:nvSpPr>
            <p:spPr>
              <a:xfrm>
                <a:off x="5035944" y="2136338"/>
                <a:ext cx="6584554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Condition of the planet at chemical equilibrium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3 phases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7 Elements (H, C, O, Fe, Si, Mg, Na)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Number of moles of each phase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(3 variables)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Mole fraction of each component in each phase 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(25 variables)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en-US" altLang="zh-CN" b="1" i="0" dirty="0" smtClean="0">
                            <a:latin typeface="Cambria Math" panose="02040503050406030204" pitchFamily="18" charset="0"/>
                          </a:rPr>
                          <m:t>𝐬𝐮𝐫𝐟𝐚𝐜𝐞</m:t>
                        </m:r>
                      </m:sub>
                    </m:sSub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altLang="zh-CN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𝐯𝐚𝐫𝐢𝐚𝐛𝐥𝐞</m:t>
                    </m:r>
                    <m:r>
                      <a:rPr lang="en-US" altLang="zh-CN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5AD183E2-1BE5-1FF5-EF0C-E17C25F6D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944" y="2136338"/>
                <a:ext cx="6584554" cy="3139321"/>
              </a:xfrm>
              <a:prstGeom prst="rect">
                <a:avLst/>
              </a:prstGeom>
              <a:blipFill>
                <a:blip r:embed="rId2"/>
                <a:stretch>
                  <a:fillRect l="-556" t="-971" r="-1111" b="-19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837B170-C9BA-C15E-F5FF-E444346620DB}"/>
                  </a:ext>
                </a:extLst>
              </p:cNvPr>
              <p:cNvSpPr txBox="1"/>
              <p:nvPr/>
            </p:nvSpPr>
            <p:spPr>
              <a:xfrm>
                <a:off x="2813050" y="5913199"/>
                <a:ext cx="87586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0" dirty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en-US" altLang="zh-CN" b="1" i="0" dirty="0">
                            <a:latin typeface="Cambria Math" panose="02040503050406030204" pitchFamily="18" charset="0"/>
                          </a:rPr>
                          <m:t>𝐬𝐮𝐫𝐟𝐚𝐜𝐞</m:t>
                        </m:r>
                      </m:sub>
                    </m:sSub>
                  </m:oMath>
                </a14:m>
                <a:r>
                  <a:rPr lang="zh-CN" altLang="en-US" b="1" dirty="0"/>
                  <a:t> </a:t>
                </a:r>
                <a:r>
                  <a:rPr lang="en-US" altLang="zh-CN" dirty="0"/>
                  <a:t>(the pressure at the boundary between the magma ocean and the envelope)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837B170-C9BA-C15E-F5FF-E44434662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050" y="5913199"/>
                <a:ext cx="8758618" cy="369332"/>
              </a:xfrm>
              <a:prstGeom prst="rect">
                <a:avLst/>
              </a:prstGeom>
              <a:blipFill>
                <a:blip r:embed="rId3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组合 9">
            <a:extLst>
              <a:ext uri="{FF2B5EF4-FFF2-40B4-BE49-F238E27FC236}">
                <a16:creationId xmlns:a16="http://schemas.microsoft.com/office/drawing/2014/main" id="{29EBE4CC-57A2-6BDA-184A-9316FD2706AF}"/>
              </a:ext>
            </a:extLst>
          </p:cNvPr>
          <p:cNvGrpSpPr/>
          <p:nvPr/>
        </p:nvGrpSpPr>
        <p:grpSpPr>
          <a:xfrm>
            <a:off x="-347635" y="869135"/>
            <a:ext cx="5862634" cy="5119730"/>
            <a:chOff x="325035" y="1784351"/>
            <a:chExt cx="4710908" cy="4102100"/>
          </a:xfrm>
        </p:grpSpPr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166F7BA-6B9F-60E3-818B-3A897791A7F3}"/>
                </a:ext>
              </a:extLst>
            </p:cNvPr>
            <p:cNvSpPr>
              <a:spLocks/>
            </p:cNvSpPr>
            <p:nvPr/>
          </p:nvSpPr>
          <p:spPr>
            <a:xfrm>
              <a:off x="677065" y="1784351"/>
              <a:ext cx="4006850" cy="389374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BAA4B86F-E9B1-F945-A567-EA5CF784236F}"/>
                </a:ext>
              </a:extLst>
            </p:cNvPr>
            <p:cNvSpPr>
              <a:spLocks/>
            </p:cNvSpPr>
            <p:nvPr/>
          </p:nvSpPr>
          <p:spPr>
            <a:xfrm>
              <a:off x="1350162" y="2413595"/>
              <a:ext cx="2660650" cy="263525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5F780BDC-5756-57FA-1FB2-6E2AAD214114}"/>
                </a:ext>
              </a:extLst>
            </p:cNvPr>
            <p:cNvSpPr>
              <a:spLocks/>
            </p:cNvSpPr>
            <p:nvPr/>
          </p:nvSpPr>
          <p:spPr>
            <a:xfrm>
              <a:off x="2082794" y="3174001"/>
              <a:ext cx="1195387" cy="1202531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F4B0C7A-C3DF-0C3A-F908-2416C2676C3C}"/>
                </a:ext>
              </a:extLst>
            </p:cNvPr>
            <p:cNvSpPr txBox="1">
              <a:spLocks/>
            </p:cNvSpPr>
            <p:nvPr/>
          </p:nvSpPr>
          <p:spPr>
            <a:xfrm>
              <a:off x="1933171" y="3395036"/>
              <a:ext cx="149463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/>
                <a:t>Core</a:t>
              </a:r>
            </a:p>
            <a:p>
              <a:pPr algn="ctr"/>
              <a:r>
                <a:rPr lang="en-US" altLang="zh-CN" dirty="0"/>
                <a:t>(Fe, Si, H, O)</a:t>
              </a:r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31DCBCC-AB01-6693-AAA4-45AC299E6006}"/>
                </a:ext>
              </a:extLst>
            </p:cNvPr>
            <p:cNvSpPr txBox="1">
              <a:spLocks/>
            </p:cNvSpPr>
            <p:nvPr/>
          </p:nvSpPr>
          <p:spPr>
            <a:xfrm>
              <a:off x="1000714" y="2610434"/>
              <a:ext cx="33595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/>
                <a:t>Magma Ocean</a:t>
              </a:r>
            </a:p>
            <a:p>
              <a:pPr algn="ctr"/>
              <a:r>
                <a:rPr lang="en-US" altLang="zh-CN" dirty="0"/>
                <a:t>(MgO, SiO</a:t>
              </a:r>
              <a:r>
                <a:rPr lang="en-US" altLang="zh-CN" baseline="-25000" dirty="0"/>
                <a:t>2</a:t>
              </a:r>
              <a:r>
                <a:rPr lang="en-US" altLang="zh-CN" dirty="0"/>
                <a:t>, Na</a:t>
              </a:r>
              <a:r>
                <a:rPr lang="en-US" altLang="zh-CN" baseline="-25000" dirty="0"/>
                <a:t>2</a:t>
              </a:r>
              <a:r>
                <a:rPr lang="en-US" altLang="zh-CN" dirty="0"/>
                <a:t>O, etc.) </a:t>
              </a:r>
              <a:endParaRPr lang="zh-CN" altLang="en-US" dirty="0"/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A60A9BF6-E889-B9CA-F189-8B81DE11F23F}"/>
                </a:ext>
              </a:extLst>
            </p:cNvPr>
            <p:cNvSpPr txBox="1">
              <a:spLocks/>
            </p:cNvSpPr>
            <p:nvPr/>
          </p:nvSpPr>
          <p:spPr>
            <a:xfrm>
              <a:off x="325035" y="1940072"/>
              <a:ext cx="4710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/>
                <a:t>Envelope (atmosphere)</a:t>
              </a:r>
            </a:p>
            <a:p>
              <a:pPr algn="ctr"/>
              <a:r>
                <a:rPr lang="en-US" altLang="zh-CN" dirty="0"/>
                <a:t>(H</a:t>
              </a:r>
              <a:r>
                <a:rPr lang="en-US" altLang="zh-CN" baseline="-25000" dirty="0"/>
                <a:t>2</a:t>
              </a:r>
              <a:r>
                <a:rPr lang="en-US" altLang="zh-CN" dirty="0"/>
                <a:t>, CO, CO</a:t>
              </a:r>
              <a:r>
                <a:rPr lang="en-US" altLang="zh-CN" baseline="-25000" dirty="0"/>
                <a:t>2</a:t>
              </a:r>
              <a:r>
                <a:rPr lang="en-US" altLang="zh-CN" dirty="0"/>
                <a:t>, CH</a:t>
              </a:r>
              <a:r>
                <a:rPr lang="en-US" altLang="zh-CN" baseline="-25000" dirty="0"/>
                <a:t>4</a:t>
              </a:r>
              <a:r>
                <a:rPr lang="en-US" altLang="zh-CN" dirty="0"/>
                <a:t>, etc.)</a:t>
              </a:r>
              <a:endParaRPr lang="zh-CN" altLang="en-US" dirty="0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912D858C-F8C6-BDFB-F0E1-34C8DE6F4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20925" y="5048845"/>
              <a:ext cx="244921" cy="83760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684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A579347-81EC-F9D7-6CF9-DC89D90D8A58}"/>
              </a:ext>
            </a:extLst>
          </p:cNvPr>
          <p:cNvCxnSpPr>
            <a:cxnSpLocks/>
          </p:cNvCxnSpPr>
          <p:nvPr/>
        </p:nvCxnSpPr>
        <p:spPr>
          <a:xfrm>
            <a:off x="8301203" y="920978"/>
            <a:ext cx="0" cy="58284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10452F-8B9F-B583-EABE-1C090940256B}"/>
              </a:ext>
            </a:extLst>
          </p:cNvPr>
          <p:cNvCxnSpPr>
            <a:cxnSpLocks/>
          </p:cNvCxnSpPr>
          <p:nvPr/>
        </p:nvCxnSpPr>
        <p:spPr>
          <a:xfrm>
            <a:off x="3868151" y="1008185"/>
            <a:ext cx="0" cy="57229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0019F68F-4D60-36D8-4380-534164F58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3256"/>
            <a:ext cx="9144000" cy="854929"/>
          </a:xfrm>
        </p:spPr>
        <p:txBody>
          <a:bodyPr>
            <a:normAutofit fontScale="90000"/>
          </a:bodyPr>
          <a:lstStyle/>
          <a:p>
            <a:r>
              <a:rPr lang="en-US" altLang="zh-CN" b="1" dirty="0">
                <a:latin typeface="+mn-lt"/>
              </a:rPr>
              <a:t>Project Frame</a:t>
            </a:r>
            <a:endParaRPr lang="zh-CN" altLang="en-US" b="1" dirty="0">
              <a:latin typeface="+mn-lt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47197D-B32C-6BB7-40DB-D7C962526927}"/>
              </a:ext>
            </a:extLst>
          </p:cNvPr>
          <p:cNvSpPr/>
          <p:nvPr/>
        </p:nvSpPr>
        <p:spPr>
          <a:xfrm>
            <a:off x="356022" y="1394700"/>
            <a:ext cx="2658489" cy="1913261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b="1" dirty="0">
                <a:solidFill>
                  <a:schemeClr val="tx1"/>
                </a:solidFill>
              </a:rPr>
              <a:t>Input</a:t>
            </a:r>
            <a:endParaRPr lang="zh-CN" altLang="en-US" sz="4000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451C7C-68AC-2022-03B1-D7C15E06AAEE}"/>
              </a:ext>
            </a:extLst>
          </p:cNvPr>
          <p:cNvSpPr/>
          <p:nvPr/>
        </p:nvSpPr>
        <p:spPr>
          <a:xfrm>
            <a:off x="4721786" y="1393192"/>
            <a:ext cx="2766646" cy="1914769"/>
          </a:xfrm>
          <a:prstGeom prst="rect">
            <a:avLst/>
          </a:prstGeom>
          <a:solidFill>
            <a:schemeClr val="bg1"/>
          </a:solidFill>
          <a:ln w="762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b="1" dirty="0">
                <a:solidFill>
                  <a:schemeClr val="tx1"/>
                </a:solidFill>
              </a:rPr>
              <a:t>Algorithm</a:t>
            </a:r>
            <a:endParaRPr lang="zh-CN" altLang="en-US" sz="4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1937AC-322F-FF37-91F4-9E1E71E4EDAA}"/>
              </a:ext>
            </a:extLst>
          </p:cNvPr>
          <p:cNvSpPr/>
          <p:nvPr/>
        </p:nvSpPr>
        <p:spPr>
          <a:xfrm>
            <a:off x="9290834" y="1393191"/>
            <a:ext cx="2545141" cy="1914769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b="1" dirty="0">
                <a:solidFill>
                  <a:schemeClr val="tx1"/>
                </a:solidFill>
              </a:rPr>
              <a:t>Output</a:t>
            </a:r>
            <a:endParaRPr lang="zh-CN" altLang="en-US" sz="4000" b="1" dirty="0">
              <a:solidFill>
                <a:schemeClr val="tx1"/>
              </a:solidFill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AEF7A91C-859B-DD5C-8823-1CF0E51D39B9}"/>
              </a:ext>
            </a:extLst>
          </p:cNvPr>
          <p:cNvSpPr/>
          <p:nvPr/>
        </p:nvSpPr>
        <p:spPr>
          <a:xfrm>
            <a:off x="3272088" y="2107175"/>
            <a:ext cx="1192127" cy="4868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52454E9E-E01F-E5A3-EF52-78DEB62C451F}"/>
              </a:ext>
            </a:extLst>
          </p:cNvPr>
          <p:cNvSpPr/>
          <p:nvPr/>
        </p:nvSpPr>
        <p:spPr>
          <a:xfrm>
            <a:off x="7746003" y="2107175"/>
            <a:ext cx="1330688" cy="4868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675DF61-DAB3-DF6B-528A-9836F7491105}"/>
              </a:ext>
            </a:extLst>
          </p:cNvPr>
          <p:cNvSpPr txBox="1"/>
          <p:nvPr/>
        </p:nvSpPr>
        <p:spPr>
          <a:xfrm>
            <a:off x="250248" y="4026426"/>
            <a:ext cx="35153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Initial values of 29 variables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Temperature, solver settings, total amount of each element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E5830A4-4BB3-D747-1A8E-D24CAAE85115}"/>
              </a:ext>
            </a:extLst>
          </p:cNvPr>
          <p:cNvSpPr txBox="1"/>
          <p:nvPr/>
        </p:nvSpPr>
        <p:spPr>
          <a:xfrm>
            <a:off x="4186805" y="4026426"/>
            <a:ext cx="37957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29 Equations for 29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Simulated annealing + MCMC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2153A19-7DC2-E842-1F81-B1CC0615964C}"/>
              </a:ext>
            </a:extLst>
          </p:cNvPr>
          <p:cNvSpPr txBox="1"/>
          <p:nvPr/>
        </p:nvSpPr>
        <p:spPr>
          <a:xfrm>
            <a:off x="8537749" y="4025385"/>
            <a:ext cx="3429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Best fit values of 29 variables at chemical equilibrium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92177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943AD2-0E23-8D0F-91B9-2ADFAD2A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Equations</a:t>
            </a:r>
            <a:endParaRPr lang="zh-CN" altLang="en-US" sz="54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E0B533CC-DDFC-9931-910F-AFA828399C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92200"/>
                <a:ext cx="10515600" cy="5695950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18 reactions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i="0" dirty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func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CN" i="0" dirty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acc>
                                <m:accPr>
                                  <m:chr m:val="̂"/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m:rPr>
                                          <m:nor/>
                                        </m:rPr>
                                        <a:rPr lang="en-US" altLang="zh-CN" i="0" dirty="0" err="1">
                                          <a:latin typeface="Cambria Math" panose="02040503050406030204" pitchFamily="18" charset="0"/>
                                        </a:rPr>
                                        <m:t>rxn</m:t>
                                      </m:r>
                                    </m:sub>
                                    <m:sup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  <m:t>∘</m:t>
                                      </m:r>
                                    </m:sup>
                                  </m:sSubSup>
                                </m:e>
                              </m:acc>
                              <m:d>
                                <m:d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  <m:t>𝑅𝑇</m:t>
                              </m:r>
                            </m:den>
                          </m:f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  <m:t>𝜈</m:t>
                                  </m:r>
                                </m:e>
                                <m:sub>
                                  <m:r>
                                    <a:rPr lang="en-US" altLang="zh-CN" i="1" dirty="0" err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nary>
                          <m:func>
                            <m:func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i="0" dirty="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altLang="zh-CN" b="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r>
                                            <a:rPr lang="en-US" altLang="zh-CN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𝑠𝑢𝑟𝑓𝑎𝑐𝑒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</a:rPr>
                                            <m:t>𝑃</m:t>
                                          </m:r>
                                        </m:e>
                                        <m:sup>
                                          <m:r>
                                            <a:rPr lang="en-US" altLang="zh-CN" i="1" dirty="0">
                                              <a:latin typeface="Cambria Math" panose="02040503050406030204" pitchFamily="18" charset="0"/>
                                            </a:rPr>
                                            <m:t>∘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algn="just"/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 algn="just"/>
                <a:endParaRPr lang="en-US" altLang="zh-CN" b="0" i="1" dirty="0">
                  <a:latin typeface="Cambria Math" panose="02040503050406030204" pitchFamily="18" charset="0"/>
                </a:endParaRPr>
              </a:p>
              <a:p>
                <a:pPr algn="just"/>
                <a:r>
                  <a:rPr lang="en-US" altLang="zh-CN" dirty="0"/>
                  <a:t>7 mass balance equations</a:t>
                </a:r>
              </a:p>
              <a:p>
                <a:pPr marL="0" indent="0" algn="just">
                  <a:buNone/>
                </a:pPr>
                <a:endParaRPr lang="en-US" altLang="zh-CN" b="0" i="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altLang="zh-CN" i="1" dirty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pt-BR" altLang="zh-CN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pt-BR" altLang="zh-CN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altLang="zh-CN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altLang="zh-CN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pt-BR" altLang="zh-CN" i="1" dirty="0"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pt-BR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altLang="zh-CN" i="1" dirty="0"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pt-BR" altLang="zh-CN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pt-BR" altLang="zh-CN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altLang="zh-CN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algn="just"/>
                <a:endParaRPr lang="en-US" altLang="zh-CN" dirty="0">
                  <a:latin typeface="Cambria Math" panose="02040503050406030204" pitchFamily="18" charset="0"/>
                </a:endParaRPr>
              </a:p>
              <a:p>
                <a:pPr algn="just"/>
                <a:endParaRPr lang="en-US" altLang="zh-CN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E0B533CC-DDFC-9931-910F-AFA828399C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92200"/>
                <a:ext cx="10515600" cy="5695950"/>
              </a:xfrm>
              <a:blipFill>
                <a:blip r:embed="rId2"/>
                <a:stretch>
                  <a:fillRect l="-1043" t="-19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607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4A05384-8604-C6AB-E237-5AA3DB9FE7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28700"/>
                <a:ext cx="10515600" cy="5148263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3 unity equations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n-NO" altLang="zh-CN" i="1" dirty="0" smtClean="0">
                          <a:latin typeface="Cambria Math" panose="02040503050406030204" pitchFamily="18" charset="0"/>
                        </a:rPr>
                        <m:t>1−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nn-NO" altLang="zh-CN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n-NO" altLang="zh-CN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nn-NO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n-NO" altLang="zh-CN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nn-NO" altLang="zh-CN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nn-NO" altLang="zh-CN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nn-NO" altLang="zh-CN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nn-NO" altLang="zh-CN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algn="just"/>
                <a:r>
                  <a:rPr lang="en-US" altLang="zh-CN" dirty="0"/>
                  <a:t>Newton's Second Law (solving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1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1" dirty="0">
                            <a:latin typeface="Cambria Math" panose="02040503050406030204" pitchFamily="18" charset="0"/>
                          </a:rPr>
                          <m:t>surface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/>
                  <a:t>)</a:t>
                </a:r>
              </a:p>
              <a:p>
                <a:pPr algn="just"/>
                <a:endParaRPr lang="en-US" altLang="zh-CN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 dirty="0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altLang="zh-CN" i="0" dirty="0">
                                      <a:latin typeface="Cambria Math" panose="02040503050406030204" pitchFamily="18" charset="0"/>
                                    </a:rPr>
                                    <m:t>surface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altLang="zh-CN" i="0" dirty="0">
                                  <a:latin typeface="Cambria Math" panose="02040503050406030204" pitchFamily="18" charset="0"/>
                                </a:rPr>
                                <m:t>bar</m:t>
                              </m:r>
                            </m:den>
                          </m:f>
                        </m:e>
                      </m:d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≃1×</m:t>
                      </m:r>
                      <m:sSup>
                        <m:sSup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f>
                        <m:f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i="0" dirty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i="1" dirty="0" err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sSup>
                        <m:sSup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CN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i="1" dirty="0" err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 dirty="0" err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b>
                                      <m:r>
                                        <a:rPr lang="en-US" altLang="zh-CN" i="1" dirty="0" err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  <m:sub>
                                      <m:r>
                                        <a:rPr lang="en-US" altLang="zh-CN" i="1" dirty="0">
                                          <a:latin typeface="Cambria Math" panose="02040503050406030204" pitchFamily="18" charset="0"/>
                                        </a:rPr>
                                        <m:t>⊕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lit/>
                            </m:rPr>
                            <a:rPr lang="en-US" altLang="zh-CN" i="1" dirty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altLang="zh-CN" dirty="0"/>
              </a:p>
              <a:p>
                <a:pPr algn="just"/>
                <a:endParaRPr lang="en-US" altLang="zh-CN" i="1" dirty="0"/>
              </a:p>
              <a:p>
                <a:pPr marL="0" indent="0" algn="ctr">
                  <a:buNone/>
                </a:pP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algn="just"/>
                <a:endParaRPr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4A05384-8604-C6AB-E237-5AA3DB9FE7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28700"/>
                <a:ext cx="10515600" cy="5148263"/>
              </a:xfrm>
              <a:blipFill>
                <a:blip r:embed="rId2"/>
                <a:stretch>
                  <a:fillRect l="-1043" t="-22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标题 1">
            <a:extLst>
              <a:ext uri="{FF2B5EF4-FFF2-40B4-BE49-F238E27FC236}">
                <a16:creationId xmlns:a16="http://schemas.microsoft.com/office/drawing/2014/main" id="{D4E5D341-2094-B63F-FF0F-DD793DDE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Equations</a:t>
            </a:r>
            <a:endParaRPr lang="zh-CN" altLang="en-US" sz="54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55529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54CE90-A330-BFFF-6300-67EF25066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350"/>
            <a:ext cx="10515600" cy="5027613"/>
          </a:xfrm>
        </p:spPr>
        <p:txBody>
          <a:bodyPr/>
          <a:lstStyle/>
          <a:p>
            <a:r>
              <a:rPr lang="en-US" altLang="zh-CN" dirty="0"/>
              <a:t>Simulated annealing: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It gives a small region where the best fit lies.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dirty="0"/>
              <a:t>MCMC</a:t>
            </a:r>
          </a:p>
          <a:p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   It finds the best-fit values in the given region.</a:t>
            </a:r>
            <a:endParaRPr lang="zh-CN" altLang="en-US" dirty="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F060988-3DF1-9B8B-8635-7B44188AF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Solver</a:t>
            </a:r>
            <a:endParaRPr lang="zh-CN" altLang="en-US" sz="54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71894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B16ED371-F095-3564-EA75-F093A1577DFE}"/>
              </a:ext>
            </a:extLst>
          </p:cNvPr>
          <p:cNvSpPr txBox="1">
            <a:spLocks/>
          </p:cNvSpPr>
          <p:nvPr/>
        </p:nvSpPr>
        <p:spPr>
          <a:xfrm>
            <a:off x="6721478" y="1857360"/>
            <a:ext cx="3406772" cy="525463"/>
          </a:xfrm>
          <a:prstGeom prst="rect">
            <a:avLst/>
          </a:prstGeom>
          <a:ln w="38100">
            <a:solidFill>
              <a:schemeClr val="bg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n-US" altLang="zh-CN" sz="1800" dirty="0">
                <a:latin typeface="+mn-lt"/>
              </a:rPr>
              <a:t>Equations of states</a:t>
            </a: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CB4B0D38-5A11-8758-BE98-12C7F9211EF1}"/>
              </a:ext>
            </a:extLst>
          </p:cNvPr>
          <p:cNvSpPr txBox="1">
            <a:spLocks/>
          </p:cNvSpPr>
          <p:nvPr/>
        </p:nvSpPr>
        <p:spPr>
          <a:xfrm>
            <a:off x="6721478" y="2276478"/>
            <a:ext cx="4091762" cy="525463"/>
          </a:xfrm>
          <a:prstGeom prst="rect">
            <a:avLst/>
          </a:prstGeom>
          <a:ln w="38100">
            <a:solidFill>
              <a:schemeClr val="bg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n-US" altLang="zh-CN" sz="1800" dirty="0">
                <a:latin typeface="+mn-lt"/>
              </a:rPr>
              <a:t>Activity coefficients for nonideal mixing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标题 1">
                <a:extLst>
                  <a:ext uri="{FF2B5EF4-FFF2-40B4-BE49-F238E27FC236}">
                    <a16:creationId xmlns:a16="http://schemas.microsoft.com/office/drawing/2014/main" id="{014D297B-D15E-1218-F3EC-DA4F59A3E5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869228" y="1709734"/>
                <a:ext cx="2238372" cy="364326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CN" sz="1800" b="1" dirty="0">
                    <a:solidFill>
                      <a:srgbClr val="FF0000"/>
                    </a:solidFill>
                    <a:latin typeface="+mn-lt"/>
                  </a:rPr>
                  <a:t>H</a:t>
                </a:r>
                <a14:m>
                  <m:oMath xmlns:m="http://schemas.openxmlformats.org/officeDocument/2006/math"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𝐞𝐫𝐞</m:t>
                    </m:r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𝐰𝐞</m:t>
                    </m:r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𝐚𝐫𝐞</m:t>
                    </m:r>
                    <m:r>
                      <a:rPr lang="en-US" altLang="zh-CN" sz="18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zh-CN" sz="1800" b="1" dirty="0">
                  <a:solidFill>
                    <a:srgbClr val="FF0000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111" name="标题 1">
                <a:extLst>
                  <a:ext uri="{FF2B5EF4-FFF2-40B4-BE49-F238E27FC236}">
                    <a16:creationId xmlns:a16="http://schemas.microsoft.com/office/drawing/2014/main" id="{014D297B-D15E-1218-F3EC-DA4F59A3E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228" y="1709734"/>
                <a:ext cx="2238372" cy="364326"/>
              </a:xfrm>
              <a:prstGeom prst="rect">
                <a:avLst/>
              </a:prstGeom>
              <a:blipFill>
                <a:blip r:embed="rId2"/>
                <a:stretch>
                  <a:fillRect t="-6061" b="-18182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标题 1">
            <a:extLst>
              <a:ext uri="{FF2B5EF4-FFF2-40B4-BE49-F238E27FC236}">
                <a16:creationId xmlns:a16="http://schemas.microsoft.com/office/drawing/2014/main" id="{EC681E7E-D737-4631-8B02-1F8C0C888424}"/>
              </a:ext>
            </a:extLst>
          </p:cNvPr>
          <p:cNvSpPr txBox="1">
            <a:spLocks/>
          </p:cNvSpPr>
          <p:nvPr/>
        </p:nvSpPr>
        <p:spPr>
          <a:xfrm>
            <a:off x="439737" y="3166268"/>
            <a:ext cx="2457450" cy="525463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800" b="1" dirty="0">
                <a:latin typeface="+mn-lt"/>
              </a:rPr>
              <a:t>Reproduction</a:t>
            </a:r>
            <a:endParaRPr lang="zh-CN" altLang="en-US" sz="2800" b="1" dirty="0">
              <a:latin typeface="+mn-lt"/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A0B23B1F-486A-84AD-7F9A-03A9927A533D}"/>
              </a:ext>
            </a:extLst>
          </p:cNvPr>
          <p:cNvSpPr txBox="1">
            <a:spLocks/>
          </p:cNvSpPr>
          <p:nvPr/>
        </p:nvSpPr>
        <p:spPr>
          <a:xfrm>
            <a:off x="3687762" y="654036"/>
            <a:ext cx="1779588" cy="525463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800" b="1" dirty="0">
                <a:latin typeface="+mn-lt"/>
              </a:rPr>
              <a:t>Database</a:t>
            </a:r>
            <a:endParaRPr lang="zh-CN" altLang="en-US" sz="2800" b="1" dirty="0">
              <a:latin typeface="+mn-lt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F18518A3-3B10-940D-34BE-682203DB78C4}"/>
              </a:ext>
            </a:extLst>
          </p:cNvPr>
          <p:cNvSpPr txBox="1">
            <a:spLocks/>
          </p:cNvSpPr>
          <p:nvPr/>
        </p:nvSpPr>
        <p:spPr>
          <a:xfrm>
            <a:off x="3687762" y="5872169"/>
            <a:ext cx="1779588" cy="525463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800" b="1" dirty="0">
                <a:latin typeface="+mn-lt"/>
              </a:rPr>
              <a:t>Plotting</a:t>
            </a:r>
            <a:endParaRPr lang="zh-CN" altLang="en-US" sz="2800" b="1" dirty="0">
              <a:latin typeface="+mn-lt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1ECFCECB-4CE9-1ACC-4E8E-B21C977A4980}"/>
              </a:ext>
            </a:extLst>
          </p:cNvPr>
          <p:cNvSpPr txBox="1">
            <a:spLocks/>
          </p:cNvSpPr>
          <p:nvPr/>
        </p:nvSpPr>
        <p:spPr>
          <a:xfrm>
            <a:off x="3687762" y="4056058"/>
            <a:ext cx="1779588" cy="525463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800" b="1" dirty="0">
                <a:latin typeface="+mn-lt"/>
              </a:rPr>
              <a:t>Solver</a:t>
            </a:r>
            <a:endParaRPr lang="zh-CN" altLang="en-US" sz="2800" b="1" dirty="0">
              <a:latin typeface="+mn-lt"/>
            </a:endParaRP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F145DF8D-3216-DC19-830A-5B65E84A2964}"/>
              </a:ext>
            </a:extLst>
          </p:cNvPr>
          <p:cNvSpPr txBox="1">
            <a:spLocks/>
          </p:cNvSpPr>
          <p:nvPr/>
        </p:nvSpPr>
        <p:spPr>
          <a:xfrm>
            <a:off x="3687762" y="2276479"/>
            <a:ext cx="1779588" cy="525463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800" b="1" dirty="0">
                <a:latin typeface="+mn-lt"/>
              </a:rPr>
              <a:t>Equations</a:t>
            </a:r>
            <a:endParaRPr lang="zh-CN" altLang="en-US" sz="2800" b="1" dirty="0">
              <a:latin typeface="+mn-lt"/>
            </a:endParaRP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03425662-2173-969C-BFBA-8F5B7F1B4E2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2897187" y="916768"/>
            <a:ext cx="790575" cy="25122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19CD8CC-8167-C607-6D5A-8004795188C6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2897187" y="2539211"/>
            <a:ext cx="790575" cy="889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BB91F47-54C9-1453-98B6-7B3C5D5A8BB2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897187" y="3429000"/>
            <a:ext cx="790575" cy="8897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733520E-61A6-617A-44E9-85F52D165409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897187" y="3429000"/>
            <a:ext cx="790575" cy="2705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标题 1">
                <a:extLst>
                  <a:ext uri="{FF2B5EF4-FFF2-40B4-BE49-F238E27FC236}">
                    <a16:creationId xmlns:a16="http://schemas.microsoft.com/office/drawing/2014/main" id="{7821C19A-18A4-D0C3-364C-171EE9FAC5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4652" y="128573"/>
                <a:ext cx="2920998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8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800" b="1" i="1" dirty="0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p>
                          <m:r>
                            <a:rPr lang="en-US" altLang="zh-CN" sz="1800" b="1" i="1" dirty="0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  <m:d>
                        <m:dPr>
                          <m:ctrlPr>
                            <a:rPr lang="en-US" altLang="zh-CN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sty m:val="p"/>
                        </m:rP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each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component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标题 1">
                <a:extLst>
                  <a:ext uri="{FF2B5EF4-FFF2-40B4-BE49-F238E27FC236}">
                    <a16:creationId xmlns:a16="http://schemas.microsoft.com/office/drawing/2014/main" id="{7821C19A-18A4-D0C3-364C-171EE9FAC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52" y="128573"/>
                <a:ext cx="2920998" cy="525463"/>
              </a:xfrm>
              <a:prstGeom prst="rect">
                <a:avLst/>
              </a:prstGeom>
              <a:blipFill>
                <a:blip r:embed="rId3"/>
                <a:stretch>
                  <a:fillRect r="-4330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标题 1">
                <a:extLst>
                  <a:ext uri="{FF2B5EF4-FFF2-40B4-BE49-F238E27FC236}">
                    <a16:creationId xmlns:a16="http://schemas.microsoft.com/office/drawing/2014/main" id="{50E112EF-C363-43C6-6270-4CABDB17B6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4652" y="654035"/>
                <a:ext cx="2573335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800" b="1" i="1" dirty="0">
                          <a:latin typeface="Cambria Math" panose="02040503050406030204" pitchFamily="18" charset="0"/>
                        </a:rPr>
                        <m:t>𝜟</m:t>
                      </m:r>
                      <m:acc>
                        <m:accPr>
                          <m:chr m:val="̂"/>
                          <m:ctrlP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altLang="zh-CN" sz="1800" b="1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800" b="1" i="1" dirty="0"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CN" sz="1800" b="1" i="1" dirty="0" err="1">
                                  <a:latin typeface="Cambria Math" panose="02040503050406030204" pitchFamily="18" charset="0"/>
                                </a:rPr>
                                <m:t>rxn</m:t>
                              </m:r>
                            </m:sub>
                            <m:sup>
                              <m:r>
                                <a:rPr lang="en-US" altLang="zh-CN" sz="1800" b="1" i="1" dirty="0">
                                  <a:latin typeface="Cambria Math" panose="02040503050406030204" pitchFamily="18" charset="0"/>
                                </a:rPr>
                                <m:t>∘</m:t>
                              </m:r>
                            </m:sup>
                          </m:sSubSup>
                        </m:e>
                      </m:acc>
                      <m:d>
                        <m:dPr>
                          <m:ctrlP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18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zh-CN" altLang="en-US" sz="1800" b="1" i="1" dirty="0">
                  <a:latin typeface="+mn-lt"/>
                </a:endParaRPr>
              </a:p>
            </p:txBody>
          </p:sp>
        </mc:Choice>
        <mc:Fallback xmlns="">
          <p:sp>
            <p:nvSpPr>
              <p:cNvPr id="77" name="标题 1">
                <a:extLst>
                  <a:ext uri="{FF2B5EF4-FFF2-40B4-BE49-F238E27FC236}">
                    <a16:creationId xmlns:a16="http://schemas.microsoft.com/office/drawing/2014/main" id="{50E112EF-C363-43C6-6270-4CABDB17B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52" y="654035"/>
                <a:ext cx="2573335" cy="525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标题 1">
                <a:extLst>
                  <a:ext uri="{FF2B5EF4-FFF2-40B4-BE49-F238E27FC236}">
                    <a16:creationId xmlns:a16="http://schemas.microsoft.com/office/drawing/2014/main" id="{AB932DB2-63E0-6748-740A-105FE2A123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1478" y="1179498"/>
                <a:ext cx="2573335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altLang="zh-CN" sz="1800" b="1" i="1" dirty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each</m:t>
                      </m:r>
                      <m: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800" b="0" i="0" dirty="0" smtClean="0">
                          <a:latin typeface="Cambria Math" panose="02040503050406030204" pitchFamily="18" charset="0"/>
                        </a:rPr>
                        <m:t>component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8" name="标题 1">
                <a:extLst>
                  <a:ext uri="{FF2B5EF4-FFF2-40B4-BE49-F238E27FC236}">
                    <a16:creationId xmlns:a16="http://schemas.microsoft.com/office/drawing/2014/main" id="{AB932DB2-63E0-6748-740A-105FE2A12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1478" y="1179498"/>
                <a:ext cx="2573335" cy="525463"/>
              </a:xfrm>
              <a:prstGeom prst="rect">
                <a:avLst/>
              </a:prstGeom>
              <a:blipFill>
                <a:blip r:embed="rId5"/>
                <a:stretch>
                  <a:fillRect r="-15421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11E894DE-BAA9-0B2D-F970-776AB07A7C76}"/>
              </a:ext>
            </a:extLst>
          </p:cNvPr>
          <p:cNvCxnSpPr>
            <a:cxnSpLocks/>
            <a:stCxn id="7" idx="3"/>
            <a:endCxn id="78" idx="1"/>
          </p:cNvCxnSpPr>
          <p:nvPr/>
        </p:nvCxnSpPr>
        <p:spPr>
          <a:xfrm>
            <a:off x="5467350" y="916768"/>
            <a:ext cx="1254128" cy="5254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3AB57C6-56F4-72F6-7D4C-3EA121BBE9CA}"/>
              </a:ext>
            </a:extLst>
          </p:cNvPr>
          <p:cNvCxnSpPr>
            <a:cxnSpLocks/>
            <a:stCxn id="7" idx="3"/>
            <a:endCxn id="77" idx="1"/>
          </p:cNvCxnSpPr>
          <p:nvPr/>
        </p:nvCxnSpPr>
        <p:spPr>
          <a:xfrm flipV="1">
            <a:off x="5467350" y="916767"/>
            <a:ext cx="1257302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0757A126-4FB3-B0AD-7F14-C4ABC4AFEBF3}"/>
              </a:ext>
            </a:extLst>
          </p:cNvPr>
          <p:cNvCxnSpPr>
            <a:cxnSpLocks/>
            <a:stCxn id="7" idx="3"/>
            <a:endCxn id="24" idx="1"/>
          </p:cNvCxnSpPr>
          <p:nvPr/>
        </p:nvCxnSpPr>
        <p:spPr>
          <a:xfrm flipV="1">
            <a:off x="5467350" y="391305"/>
            <a:ext cx="1257302" cy="5254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标题 1">
            <a:extLst>
              <a:ext uri="{FF2B5EF4-FFF2-40B4-BE49-F238E27FC236}">
                <a16:creationId xmlns:a16="http://schemas.microsoft.com/office/drawing/2014/main" id="{E115035D-3C24-C78A-AC53-38A21A29C24D}"/>
              </a:ext>
            </a:extLst>
          </p:cNvPr>
          <p:cNvSpPr txBox="1">
            <a:spLocks/>
          </p:cNvSpPr>
          <p:nvPr/>
        </p:nvSpPr>
        <p:spPr>
          <a:xfrm>
            <a:off x="6721478" y="2687890"/>
            <a:ext cx="3406772" cy="525463"/>
          </a:xfrm>
          <a:prstGeom prst="rect">
            <a:avLst/>
          </a:prstGeom>
          <a:ln w="38100">
            <a:solidFill>
              <a:schemeClr val="bg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n-US" altLang="zh-CN" sz="1800" dirty="0">
                <a:latin typeface="+mn-lt"/>
              </a:rPr>
              <a:t>Functions to solve the variables</a:t>
            </a: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8C6A26AC-362F-ECFB-8DEF-44EA7B8B555C}"/>
              </a:ext>
            </a:extLst>
          </p:cNvPr>
          <p:cNvCxnSpPr>
            <a:cxnSpLocks/>
            <a:stCxn id="10" idx="3"/>
            <a:endCxn id="88" idx="1"/>
          </p:cNvCxnSpPr>
          <p:nvPr/>
        </p:nvCxnSpPr>
        <p:spPr>
          <a:xfrm>
            <a:off x="5467350" y="2539211"/>
            <a:ext cx="1254128" cy="4114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标题 1">
                <a:extLst>
                  <a:ext uri="{FF2B5EF4-FFF2-40B4-BE49-F238E27FC236}">
                    <a16:creationId xmlns:a16="http://schemas.microsoft.com/office/drawing/2014/main" id="{8EED4EFC-44E1-E468-1C8D-9C71184889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1478" y="4056058"/>
                <a:ext cx="3406772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:r>
                  <a:rPr lang="en-US" altLang="zh-CN" sz="1800" dirty="0">
                    <a:latin typeface="+mn-lt"/>
                  </a:rPr>
                  <a:t>S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imulated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annealing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MCMC</m:t>
                    </m:r>
                  </m:oMath>
                </a14:m>
                <a:endParaRPr lang="en-US" altLang="zh-CN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93" name="标题 1">
                <a:extLst>
                  <a:ext uri="{FF2B5EF4-FFF2-40B4-BE49-F238E27FC236}">
                    <a16:creationId xmlns:a16="http://schemas.microsoft.com/office/drawing/2014/main" id="{8EED4EFC-44E1-E468-1C8D-9C7118488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1478" y="4056058"/>
                <a:ext cx="3406772" cy="525463"/>
              </a:xfrm>
              <a:prstGeom prst="rect">
                <a:avLst/>
              </a:prstGeom>
              <a:blipFill>
                <a:blip r:embed="rId7"/>
                <a:stretch>
                  <a:fillRect l="-1064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标题 1">
                <a:extLst>
                  <a:ext uri="{FF2B5EF4-FFF2-40B4-BE49-F238E27FC236}">
                    <a16:creationId xmlns:a16="http://schemas.microsoft.com/office/drawing/2014/main" id="{3C4C8030-A1FD-B2A0-75E0-F9F5524A78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1478" y="3522456"/>
                <a:ext cx="3406772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:r>
                  <a:rPr lang="en-US" altLang="zh-CN" sz="1800" dirty="0">
                    <a:latin typeface="+mn-lt"/>
                  </a:rPr>
                  <a:t>P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arameter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setting</m:t>
                    </m:r>
                  </m:oMath>
                </a14:m>
                <a:endParaRPr lang="en-US" altLang="zh-CN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94" name="标题 1">
                <a:extLst>
                  <a:ext uri="{FF2B5EF4-FFF2-40B4-BE49-F238E27FC236}">
                    <a16:creationId xmlns:a16="http://schemas.microsoft.com/office/drawing/2014/main" id="{3C4C8030-A1FD-B2A0-75E0-F9F5524A78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1478" y="3522456"/>
                <a:ext cx="3406772" cy="525463"/>
              </a:xfrm>
              <a:prstGeom prst="rect">
                <a:avLst/>
              </a:prstGeom>
              <a:blipFill>
                <a:blip r:embed="rId8"/>
                <a:stretch>
                  <a:fillRect l="-1064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C8D28ED4-627D-7712-D219-A7331822C9DA}"/>
              </a:ext>
            </a:extLst>
          </p:cNvPr>
          <p:cNvCxnSpPr>
            <a:cxnSpLocks/>
            <a:stCxn id="9" idx="3"/>
            <a:endCxn id="94" idx="1"/>
          </p:cNvCxnSpPr>
          <p:nvPr/>
        </p:nvCxnSpPr>
        <p:spPr>
          <a:xfrm flipV="1">
            <a:off x="5467350" y="3785188"/>
            <a:ext cx="1254128" cy="5336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BE504E2-8379-E4B1-76B9-11FF3AB26876}"/>
              </a:ext>
            </a:extLst>
          </p:cNvPr>
          <p:cNvCxnSpPr>
            <a:cxnSpLocks/>
            <a:stCxn id="9" idx="3"/>
            <a:endCxn id="93" idx="1"/>
          </p:cNvCxnSpPr>
          <p:nvPr/>
        </p:nvCxnSpPr>
        <p:spPr>
          <a:xfrm>
            <a:off x="5467350" y="4318790"/>
            <a:ext cx="12541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标题 1">
                <a:extLst>
                  <a:ext uri="{FF2B5EF4-FFF2-40B4-BE49-F238E27FC236}">
                    <a16:creationId xmlns:a16="http://schemas.microsoft.com/office/drawing/2014/main" id="{DBB8D8D1-AE67-1773-6952-B77A223BBF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1478" y="5872168"/>
                <a:ext cx="3406772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:r>
                  <a:rPr lang="en-US" altLang="zh-CN" sz="1800" dirty="0">
                    <a:latin typeface="+mn-lt"/>
                  </a:rPr>
                  <a:t>M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ake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some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nice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plots</m:t>
                    </m:r>
                    <m: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lang="en-US" altLang="zh-CN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103" name="标题 1">
                <a:extLst>
                  <a:ext uri="{FF2B5EF4-FFF2-40B4-BE49-F238E27FC236}">
                    <a16:creationId xmlns:a16="http://schemas.microsoft.com/office/drawing/2014/main" id="{DBB8D8D1-AE67-1773-6952-B77A223BB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1478" y="5872168"/>
                <a:ext cx="3406772" cy="525463"/>
              </a:xfrm>
              <a:prstGeom prst="rect">
                <a:avLst/>
              </a:prstGeom>
              <a:blipFill>
                <a:blip r:embed="rId9"/>
                <a:stretch>
                  <a:fillRect l="-1064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9B777E8C-26C1-EAF5-F103-405FB3069BEF}"/>
              </a:ext>
            </a:extLst>
          </p:cNvPr>
          <p:cNvCxnSpPr>
            <a:cxnSpLocks/>
            <a:stCxn id="8" idx="3"/>
            <a:endCxn id="103" idx="1"/>
          </p:cNvCxnSpPr>
          <p:nvPr/>
        </p:nvCxnSpPr>
        <p:spPr>
          <a:xfrm flipV="1">
            <a:off x="5467350" y="6134900"/>
            <a:ext cx="125412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463D15E7-7E5C-C551-A2D4-D937EC46B2AF}"/>
              </a:ext>
            </a:extLst>
          </p:cNvPr>
          <p:cNvCxnSpPr>
            <a:cxnSpLocks/>
            <a:stCxn id="111" idx="0"/>
          </p:cNvCxnSpPr>
          <p:nvPr/>
        </p:nvCxnSpPr>
        <p:spPr>
          <a:xfrm flipH="1" flipV="1">
            <a:off x="9645650" y="1442230"/>
            <a:ext cx="1342764" cy="2675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标题 1">
                <a:extLst>
                  <a:ext uri="{FF2B5EF4-FFF2-40B4-BE49-F238E27FC236}">
                    <a16:creationId xmlns:a16="http://schemas.microsoft.com/office/drawing/2014/main" id="{EB031E6E-836B-50B0-342B-9978DFD77D8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21478" y="4581520"/>
                <a:ext cx="1057272" cy="525463"/>
              </a:xfrm>
              <a:prstGeom prst="rect">
                <a:avLst/>
              </a:prstGeom>
              <a:ln w="38100"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just"/>
                <a:r>
                  <a:rPr lang="en-US" altLang="zh-CN" sz="1800" dirty="0">
                    <a:latin typeface="+mn-lt"/>
                  </a:rPr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b="0" i="0" dirty="0" smtClean="0">
                        <a:latin typeface="Cambria Math" panose="02040503050406030204" pitchFamily="18" charset="0"/>
                      </a:rPr>
                      <m:t>utput</m:t>
                    </m:r>
                  </m:oMath>
                </a14:m>
                <a:endParaRPr lang="en-US" altLang="zh-CN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120" name="标题 1">
                <a:extLst>
                  <a:ext uri="{FF2B5EF4-FFF2-40B4-BE49-F238E27FC236}">
                    <a16:creationId xmlns:a16="http://schemas.microsoft.com/office/drawing/2014/main" id="{EB031E6E-836B-50B0-342B-9978DFD77D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1478" y="4581520"/>
                <a:ext cx="1057272" cy="525463"/>
              </a:xfrm>
              <a:prstGeom prst="rect">
                <a:avLst/>
              </a:prstGeom>
              <a:blipFill>
                <a:blip r:embed="rId10"/>
                <a:stretch>
                  <a:fillRect l="-3352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1CFE208-5DE1-7A3D-61D9-D6F450EE5F91}"/>
              </a:ext>
            </a:extLst>
          </p:cNvPr>
          <p:cNvCxnSpPr>
            <a:cxnSpLocks/>
            <a:stCxn id="9" idx="3"/>
            <a:endCxn id="120" idx="1"/>
          </p:cNvCxnSpPr>
          <p:nvPr/>
        </p:nvCxnSpPr>
        <p:spPr>
          <a:xfrm>
            <a:off x="5467350" y="4318790"/>
            <a:ext cx="1254128" cy="5254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FC2D5EC8-5B39-E83E-7D0C-47919E4B23AC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 flipV="1">
            <a:off x="5467350" y="2120092"/>
            <a:ext cx="1254128" cy="419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0376E5A6-602A-F688-9A84-7AC221D194F4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V="1">
            <a:off x="5467350" y="2539210"/>
            <a:ext cx="1254128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52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16C86617-3E90-52B1-5642-FCB9CE017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Hirschmann et al. 2012</a:t>
            </a:r>
            <a:endParaRPr lang="zh-CN" altLang="en-US" sz="5400" b="1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内容占位符 2">
                <a:extLst>
                  <a:ext uri="{FF2B5EF4-FFF2-40B4-BE49-F238E27FC236}">
                    <a16:creationId xmlns:a16="http://schemas.microsoft.com/office/drawing/2014/main" id="{A0BD6458-AF76-ECCC-D162-74891DA53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49350"/>
                <a:ext cx="10744200" cy="502761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altLang="zh-CN" b="1" dirty="0"/>
                  <a:t>P</a:t>
                </a:r>
                <a:r>
                  <a:rPr lang="zh-CN" altLang="zh-CN" b="1" dirty="0"/>
                  <a:t>rinciple</a:t>
                </a:r>
                <a:r>
                  <a:rPr lang="en-US" altLang="zh-CN" b="1" dirty="0"/>
                  <a:t>: </a:t>
                </a:r>
                <a:r>
                  <a:rPr lang="en-US" altLang="zh-CN" dirty="0"/>
                  <a:t>Measure dissolved H</a:t>
                </a:r>
                <a:r>
                  <a:rPr lang="en-US" altLang="zh-CN" baseline="-25000" dirty="0"/>
                  <a:t>2</a:t>
                </a:r>
                <a:r>
                  <a:rPr lang="en-US" altLang="zh-CN" dirty="0"/>
                  <a:t> concentrations (X</a:t>
                </a:r>
                <a:r>
                  <a:rPr lang="en-US" altLang="zh-CN" baseline="-25000" dirty="0"/>
                  <a:t>H2</a:t>
                </a:r>
                <a:r>
                  <a:rPr lang="en-US" altLang="zh-CN" dirty="0"/>
                  <a:t>) at controlled f</a:t>
                </a:r>
                <a:r>
                  <a:rPr lang="en-US" altLang="zh-CN" baseline="-25000" dirty="0"/>
                  <a:t>H2</a:t>
                </a:r>
                <a:r>
                  <a:rPr lang="en-US" altLang="zh-CN" dirty="0"/>
                  <a:t>, then construct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 for reaction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 algn="ctr">
                  <a:buNone/>
                </a:pPr>
                <a:r>
                  <a:rPr lang="en-US" altLang="zh-CN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US" altLang="zh-CN" b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altLang="zh-CN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𝐞𝐪</m:t>
                        </m:r>
                      </m:sub>
                    </m:sSub>
                    <m:r>
                      <a:rPr lang="en-US" altLang="zh-CN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CN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𝐥𝐧</m:t>
                    </m:r>
                    <m:f>
                      <m:fPr>
                        <m:ctrlPr>
                          <a:rPr lang="en-US" altLang="zh-CN" b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CN" b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en-US" altLang="zh-CN" b="1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𝐇𝟐</m:t>
                            </m:r>
                          </m:sub>
                          <m:sup>
                            <m:r>
                              <a:rPr lang="en-US" altLang="zh-CN" b="1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𝐦𝐚𝐠𝐦𝐚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zh-CN" b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altLang="zh-CN" b="1" i="0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𝐇𝟐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marL="0" indent="0">
                  <a:buNone/>
                </a:pPr>
                <a:endParaRPr lang="en-US" altLang="zh-CN" sz="2400" b="1" dirty="0"/>
              </a:p>
              <a:p>
                <a:pPr marL="0" indent="0">
                  <a:buNone/>
                </a:pPr>
                <a:r>
                  <a:rPr lang="en-US" altLang="zh-CN" sz="2400" b="1" dirty="0"/>
                  <a:t>Experiment setup:</a:t>
                </a:r>
              </a:p>
              <a:p>
                <a:r>
                  <a:rPr lang="en-US" altLang="zh-CN" sz="2400" dirty="0"/>
                  <a:t>1. </a:t>
                </a:r>
                <a:r>
                  <a:rPr lang="en-US" altLang="zh-CN" sz="2400" dirty="0" err="1"/>
                  <a:t>serie</a:t>
                </a:r>
                <a:r>
                  <a:rPr lang="en-US" altLang="zh-CN" sz="2400" dirty="0"/>
                  <a:t>: molten synthetic basalt coexisting with C-O-H fluid</a:t>
                </a:r>
              </a:p>
              <a:p>
                <a:r>
                  <a:rPr lang="en-US" altLang="zh-CN" sz="2400" dirty="0"/>
                  <a:t>2. </a:t>
                </a:r>
                <a:r>
                  <a:rPr lang="en-US" altLang="zh-CN" sz="2400" dirty="0" err="1"/>
                  <a:t>serie</a:t>
                </a:r>
                <a:r>
                  <a:rPr lang="en-US" altLang="zh-CN" sz="2400" dirty="0"/>
                  <a:t>: molten synthetic andesite coexisting with C-free O-H fluid</a:t>
                </a:r>
              </a:p>
              <a:p>
                <a:r>
                  <a:rPr lang="en-US" altLang="zh-CN" sz="2400" dirty="0"/>
                  <a:t>Pressure: 0.7-3 </a:t>
                </a:r>
                <a:r>
                  <a:rPr lang="en-US" altLang="zh-CN" sz="2400" dirty="0" err="1"/>
                  <a:t>Gpa</a:t>
                </a:r>
                <a:endParaRPr lang="en-US" altLang="zh-CN" sz="2400" dirty="0"/>
              </a:p>
              <a:p>
                <a:r>
                  <a:rPr lang="en-US" altLang="zh-CN" sz="2400" dirty="0"/>
                  <a:t>Temperature: 1400-1500℃</a:t>
                </a:r>
              </a:p>
              <a:p>
                <a:r>
                  <a:rPr lang="en-US" altLang="zh-CN" sz="2400" dirty="0"/>
                  <a:t>Fixed f</a:t>
                </a:r>
                <a:r>
                  <a:rPr lang="en-US" altLang="zh-CN" sz="2400" baseline="-25000" dirty="0"/>
                  <a:t>H2</a:t>
                </a:r>
                <a:r>
                  <a:rPr lang="en-US" altLang="zh-CN" sz="2400" dirty="0"/>
                  <a:t> imposed with a double capsule technique.</a:t>
                </a:r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5" name="内容占位符 2">
                <a:extLst>
                  <a:ext uri="{FF2B5EF4-FFF2-40B4-BE49-F238E27FC236}">
                    <a16:creationId xmlns:a16="http://schemas.microsoft.com/office/drawing/2014/main" id="{A0BD6458-AF76-ECCC-D162-74891DA53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49350"/>
                <a:ext cx="10744200" cy="5027613"/>
              </a:xfrm>
              <a:blipFill>
                <a:blip r:embed="rId2"/>
                <a:stretch>
                  <a:fillRect l="-1192" t="-2913" r="-2440" b="-8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FA7D30A-FE20-F2BA-DBA4-AD62726DF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3805"/>
            <a:ext cx="1238250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731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1227E-07B2-0255-E4E1-32E48592E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CA9B0C7D-2FC0-DBC5-5144-6C24C7477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Hirschmann et al. 2012</a:t>
            </a:r>
            <a:endParaRPr lang="zh-CN" altLang="en-US" sz="5400" b="1" dirty="0">
              <a:latin typeface="+mn-lt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D7FCA20E-429C-A206-BD97-18141DB4F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350"/>
            <a:ext cx="10515600" cy="502761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1. concentration measurement: FTIR from absorption features</a:t>
            </a:r>
          </a:p>
          <a:p>
            <a:r>
              <a:rPr lang="en-US" altLang="zh-CN" sz="2400" dirty="0"/>
              <a:t>H</a:t>
            </a:r>
            <a:r>
              <a:rPr lang="en-US" altLang="zh-CN" sz="2400" baseline="-25000" dirty="0"/>
              <a:t>2</a:t>
            </a:r>
            <a:r>
              <a:rPr lang="en-US" altLang="zh-CN" sz="2400" dirty="0"/>
              <a:t> concentration: absorption peak near </a:t>
            </a:r>
            <a:r>
              <a:rPr lang="zh-CN" altLang="zh-CN" sz="2400" dirty="0"/>
              <a:t>4130</a:t>
            </a:r>
            <a:r>
              <a:rPr lang="en-US" altLang="zh-CN" sz="2400" dirty="0"/>
              <a:t> </a:t>
            </a:r>
            <a:r>
              <a:rPr lang="zh-CN" altLang="zh-CN" sz="2400" dirty="0"/>
              <a:t>cm</a:t>
            </a:r>
            <a:r>
              <a:rPr lang="en-US" altLang="zh-CN" sz="2400" baseline="30000" dirty="0"/>
              <a:t>-1</a:t>
            </a:r>
            <a:endParaRPr lang="en-US" altLang="zh-CN" sz="2400" dirty="0"/>
          </a:p>
          <a:p>
            <a:r>
              <a:rPr lang="en-US" altLang="zh-CN" sz="2400" dirty="0"/>
              <a:t>OH</a:t>
            </a:r>
            <a:r>
              <a:rPr lang="en-US" altLang="zh-CN" sz="2400" baseline="30000" dirty="0"/>
              <a:t>-</a:t>
            </a:r>
            <a:r>
              <a:rPr lang="en-US" altLang="zh-CN" sz="2400" dirty="0"/>
              <a:t> and H</a:t>
            </a:r>
            <a:r>
              <a:rPr lang="en-US" altLang="zh-CN" sz="2400" baseline="-25000" dirty="0"/>
              <a:t>2</a:t>
            </a:r>
            <a:r>
              <a:rPr lang="en-US" altLang="zh-CN" sz="2400" dirty="0"/>
              <a:t>O concentrations: </a:t>
            </a:r>
            <a:r>
              <a:rPr lang="zh-CN" altLang="zh-CN" sz="2400" dirty="0"/>
              <a:t>combination bands at 4500 and 5200</a:t>
            </a:r>
            <a:r>
              <a:rPr lang="en-US" altLang="zh-CN" sz="2400" dirty="0"/>
              <a:t> </a:t>
            </a:r>
            <a:r>
              <a:rPr lang="zh-CN" altLang="zh-CN" sz="2400" dirty="0"/>
              <a:t>cm</a:t>
            </a:r>
            <a:r>
              <a:rPr lang="en-US" altLang="zh-CN" sz="2400" baseline="30000" dirty="0"/>
              <a:t>-1</a:t>
            </a:r>
            <a:endParaRPr lang="zh-CN" alt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B0B133-3864-4B12-0434-59366B153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057" y="2780707"/>
            <a:ext cx="3649886" cy="370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031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6959-5AC5-DF5D-1EA7-840E930E4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66C291-336F-5580-418F-2D96AC767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196" y="3131178"/>
            <a:ext cx="3239608" cy="3045785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4487F0EC-69BD-3D40-18BE-980979C4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Hirschmann et al. 2012</a:t>
            </a:r>
            <a:endParaRPr lang="zh-CN" altLang="en-US" sz="5400" b="1" dirty="0">
              <a:latin typeface="+mn-lt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ADA9480-6C26-4B82-21F0-AB17D1F92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350"/>
            <a:ext cx="10515600" cy="502761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2. concentration measurements: SMIS </a:t>
            </a:r>
          </a:p>
          <a:p>
            <a:pPr marL="0" indent="0">
              <a:buNone/>
            </a:pPr>
            <a:r>
              <a:rPr lang="zh-CN" altLang="zh-CN" sz="2400" dirty="0"/>
              <a:t>measures </a:t>
            </a:r>
            <a:r>
              <a:rPr lang="en-US" altLang="zh-CN" sz="2400" dirty="0"/>
              <a:t>the </a:t>
            </a:r>
            <a:r>
              <a:rPr lang="zh-CN" altLang="zh-CN" sz="2400" dirty="0"/>
              <a:t>total</a:t>
            </a:r>
            <a:r>
              <a:rPr lang="en-US" altLang="zh-CN" sz="2400" dirty="0"/>
              <a:t> </a:t>
            </a:r>
            <a:r>
              <a:rPr lang="zh-CN" altLang="zh-CN" sz="2400" dirty="0"/>
              <a:t>H</a:t>
            </a:r>
            <a:r>
              <a:rPr lang="en-US" altLang="zh-CN" sz="2400" dirty="0"/>
              <a:t> </a:t>
            </a:r>
            <a:r>
              <a:rPr lang="zh-CN" altLang="zh-CN" sz="2400" dirty="0"/>
              <a:t>content</a:t>
            </a:r>
            <a:r>
              <a:rPr lang="en-US" altLang="zh-CN" sz="2400" dirty="0"/>
              <a:t>: sum of </a:t>
            </a:r>
            <a:r>
              <a:rPr lang="zh-CN" altLang="zh-CN" sz="2400" dirty="0"/>
              <a:t>H</a:t>
            </a:r>
            <a:r>
              <a:rPr lang="en-US" altLang="zh-CN" sz="2400" baseline="-25000" dirty="0"/>
              <a:t>2</a:t>
            </a:r>
            <a:r>
              <a:rPr lang="zh-CN" altLang="zh-CN" sz="2400" dirty="0"/>
              <a:t>,</a:t>
            </a:r>
            <a:r>
              <a:rPr lang="en-US" altLang="zh-CN" sz="2400" dirty="0"/>
              <a:t> </a:t>
            </a:r>
            <a:r>
              <a:rPr lang="zh-CN" altLang="zh-CN" sz="2400" dirty="0"/>
              <a:t>OH</a:t>
            </a:r>
            <a:r>
              <a:rPr lang="en-US" altLang="zh-CN" sz="2400" baseline="30000" dirty="0"/>
              <a:t>-</a:t>
            </a:r>
            <a:r>
              <a:rPr lang="en-US" altLang="zh-CN" sz="2400" dirty="0"/>
              <a:t>,</a:t>
            </a:r>
            <a:r>
              <a:rPr lang="zh-CN" altLang="zh-CN" sz="2400" dirty="0"/>
              <a:t> and</a:t>
            </a:r>
            <a:r>
              <a:rPr lang="en-US" altLang="zh-CN" sz="2400" dirty="0"/>
              <a:t> </a:t>
            </a:r>
            <a:r>
              <a:rPr lang="zh-CN" altLang="zh-CN" sz="2400" dirty="0"/>
              <a:t>H</a:t>
            </a:r>
            <a:r>
              <a:rPr lang="en-US" altLang="zh-CN" sz="2400" baseline="-25000" dirty="0"/>
              <a:t>2</a:t>
            </a:r>
            <a:r>
              <a:rPr lang="zh-CN" altLang="zh-CN" sz="2400" dirty="0"/>
              <a:t>O</a:t>
            </a:r>
            <a:r>
              <a:rPr lang="en-US" altLang="zh-CN" sz="2400" dirty="0"/>
              <a:t> (only for basalt)</a:t>
            </a:r>
          </a:p>
          <a:p>
            <a:pPr marL="0" indent="0">
              <a:buNone/>
            </a:pPr>
            <a:endParaRPr lang="en-US" altLang="zh-CN" sz="2400" b="1" dirty="0"/>
          </a:p>
          <a:p>
            <a:pPr marL="0" indent="0" algn="ctr">
              <a:buNone/>
            </a:pPr>
            <a:r>
              <a:rPr lang="en-US" altLang="zh-CN" b="1" dirty="0"/>
              <a:t>FTIR H</a:t>
            </a:r>
            <a:r>
              <a:rPr lang="en-US" altLang="zh-CN" b="1" baseline="-25000" dirty="0"/>
              <a:t>2</a:t>
            </a:r>
            <a:r>
              <a:rPr lang="en-US" altLang="zh-CN" b="1" dirty="0"/>
              <a:t> </a:t>
            </a:r>
            <a:r>
              <a:rPr lang="en-US" altLang="zh-CN" dirty="0"/>
              <a:t>vs.</a:t>
            </a:r>
            <a:r>
              <a:rPr lang="en-US" altLang="zh-CN" b="1" dirty="0"/>
              <a:t> (SIMS total H) – (FTIR H</a:t>
            </a:r>
            <a:r>
              <a:rPr lang="en-US" altLang="zh-CN" b="1" baseline="-25000" dirty="0"/>
              <a:t>2</a:t>
            </a:r>
            <a:r>
              <a:rPr lang="en-US" altLang="zh-CN" b="1" dirty="0"/>
              <a:t>O)</a:t>
            </a:r>
          </a:p>
        </p:txBody>
      </p:sp>
    </p:spTree>
    <p:extLst>
      <p:ext uri="{BB962C8B-B14F-4D97-AF65-F5344CB8AC3E}">
        <p14:creationId xmlns:p14="http://schemas.microsoft.com/office/powerpoint/2010/main" val="3212419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3B08-AAD3-9964-674D-432F9FC1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8BAE81-BC1F-6FCA-BC82-512137007624}"/>
              </a:ext>
            </a:extLst>
          </p:cNvPr>
          <p:cNvPicPr>
            <a:picLocks/>
          </p:cNvPicPr>
          <p:nvPr/>
        </p:nvPicPr>
        <p:blipFill>
          <a:blip r:embed="rId2"/>
          <a:srcRect t="3925"/>
          <a:stretch>
            <a:fillRect/>
          </a:stretch>
        </p:blipFill>
        <p:spPr>
          <a:xfrm>
            <a:off x="6445250" y="1302589"/>
            <a:ext cx="4908550" cy="4721134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62EAEBE7-A11B-06F9-973F-2B9BC8AC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Hirschmann et al. 2012</a:t>
            </a:r>
            <a:endParaRPr lang="zh-CN" altLang="en-US" sz="5400" b="1" dirty="0">
              <a:latin typeface="+mn-lt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721A36F1-4E44-E210-9807-D1D2583A1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350"/>
            <a:ext cx="10515600" cy="502761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Result:</a:t>
            </a: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T = T</a:t>
            </a:r>
            <a:r>
              <a:rPr lang="en-US" altLang="zh-CN" baseline="-25000" dirty="0"/>
              <a:t>0</a:t>
            </a:r>
            <a:r>
              <a:rPr lang="en-US" altLang="zh-CN" dirty="0"/>
              <a:t> = 1400 ℃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P</a:t>
            </a:r>
            <a:r>
              <a:rPr lang="en-US" altLang="zh-CN" baseline="-25000" dirty="0"/>
              <a:t>0</a:t>
            </a:r>
            <a:r>
              <a:rPr lang="en-US" altLang="zh-CN" dirty="0"/>
              <a:t> = 1 bar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FD1C00-8E98-1224-ED22-DD9F56C49AFD}"/>
              </a:ext>
            </a:extLst>
          </p:cNvPr>
          <p:cNvPicPr>
            <a:picLocks/>
          </p:cNvPicPr>
          <p:nvPr/>
        </p:nvPicPr>
        <p:blipFill>
          <a:blip r:embed="rId3"/>
          <a:srcRect r="23863"/>
          <a:stretch>
            <a:fillRect/>
          </a:stretch>
        </p:blipFill>
        <p:spPr>
          <a:xfrm>
            <a:off x="838200" y="1963738"/>
            <a:ext cx="515620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0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D0CC7-71DF-6837-E3BF-1C5EBF9F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内容占位符 2">
            <a:extLst>
              <a:ext uri="{FF2B5EF4-FFF2-40B4-BE49-F238E27FC236}">
                <a16:creationId xmlns:a16="http://schemas.microsoft.com/office/drawing/2014/main" id="{AD0C69B6-09EF-299A-6352-B2F23984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350"/>
            <a:ext cx="10515600" cy="5086349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Discussion: Difference in lnK</a:t>
            </a:r>
            <a:r>
              <a:rPr lang="en-US" altLang="zh-CN" b="1" baseline="-25000" dirty="0"/>
              <a:t>0</a:t>
            </a:r>
            <a:r>
              <a:rPr lang="en-US" altLang="zh-CN" b="1" dirty="0"/>
              <a:t> due to ionic porosity (IP)</a:t>
            </a:r>
          </a:p>
          <a:p>
            <a:pPr marL="0" indent="0">
              <a:buNone/>
            </a:pPr>
            <a:r>
              <a:rPr lang="en-US" altLang="zh-CN" dirty="0"/>
              <a:t>IP(basalt) = 45.6 		lnK</a:t>
            </a:r>
            <a:r>
              <a:rPr lang="en-US" altLang="zh-CN" baseline="-25000" dirty="0"/>
              <a:t>0</a:t>
            </a:r>
            <a:r>
              <a:rPr lang="en-US" altLang="zh-CN" dirty="0"/>
              <a:t>(basalt) = -11.4</a:t>
            </a:r>
          </a:p>
          <a:p>
            <a:pPr marL="0" indent="0">
              <a:buNone/>
            </a:pPr>
            <a:r>
              <a:rPr lang="en-US" altLang="zh-CN" dirty="0"/>
              <a:t>IP(andesite) = 48.3	lnK</a:t>
            </a:r>
            <a:r>
              <a:rPr lang="en-US" altLang="zh-CN" baseline="-25000" dirty="0"/>
              <a:t>0</a:t>
            </a:r>
            <a:r>
              <a:rPr lang="en-US" altLang="zh-CN" dirty="0"/>
              <a:t>(andesite) = -10.6</a:t>
            </a:r>
          </a:p>
          <a:p>
            <a:pPr marL="0" indent="0">
              <a:buNone/>
            </a:pPr>
            <a:r>
              <a:rPr lang="el-GR" altLang="zh-CN" dirty="0"/>
              <a:t>Δ</a:t>
            </a:r>
            <a:r>
              <a:rPr lang="en-US" altLang="zh-CN" dirty="0"/>
              <a:t>IP = 1  →  </a:t>
            </a:r>
            <a:r>
              <a:rPr lang="el-GR" altLang="zh-CN" dirty="0"/>
              <a:t>Δ</a:t>
            </a:r>
            <a:r>
              <a:rPr lang="en-US" altLang="zh-CN" dirty="0"/>
              <a:t>lnK</a:t>
            </a:r>
            <a:r>
              <a:rPr lang="en-US" altLang="zh-CN" baseline="-25000" dirty="0"/>
              <a:t>0</a:t>
            </a:r>
            <a:r>
              <a:rPr lang="en-US" altLang="zh-CN" dirty="0"/>
              <a:t> ≈ 0.3</a:t>
            </a: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Extrapolate to </a:t>
            </a:r>
            <a:r>
              <a:rPr lang="zh-CN" altLang="zh-CN" b="1" dirty="0"/>
              <a:t>peridotite</a:t>
            </a:r>
            <a:r>
              <a:rPr lang="en-US" altLang="zh-CN" b="1" dirty="0"/>
              <a:t>/magma ocean (IP = 42.1)</a:t>
            </a:r>
          </a:p>
          <a:p>
            <a:pPr marL="0" indent="0">
              <a:buNone/>
            </a:pPr>
            <a:r>
              <a:rPr lang="en-US" altLang="zh-CN" dirty="0"/>
              <a:t>lnK</a:t>
            </a:r>
            <a:r>
              <a:rPr lang="en-US" altLang="zh-CN" baseline="-25000" dirty="0"/>
              <a:t>0</a:t>
            </a:r>
            <a:r>
              <a:rPr lang="en-US" altLang="zh-CN" dirty="0"/>
              <a:t>(magma ocean) = -12.5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b="1" dirty="0"/>
              <a:t>For magma ocean: </a:t>
            </a:r>
            <a:r>
              <a:rPr lang="en-US" altLang="zh-CN" dirty="0" err="1"/>
              <a:t>lnK</a:t>
            </a:r>
            <a:r>
              <a:rPr lang="en-US" altLang="zh-CN" baseline="-25000" dirty="0" err="1"/>
              <a:t>eq</a:t>
            </a:r>
            <a:r>
              <a:rPr lang="en-US" altLang="zh-CN" dirty="0"/>
              <a:t>(T</a:t>
            </a:r>
            <a:r>
              <a:rPr lang="en-US" altLang="zh-CN" baseline="-25000" dirty="0"/>
              <a:t>0</a:t>
            </a:r>
            <a:r>
              <a:rPr lang="en-US" altLang="zh-CN" dirty="0"/>
              <a:t>=1400℃,P) = -12.5-0.76P(</a:t>
            </a:r>
            <a:r>
              <a:rPr lang="en-US" altLang="zh-CN" dirty="0" err="1"/>
              <a:t>Gpa</a:t>
            </a:r>
            <a:r>
              <a:rPr lang="en-US" altLang="zh-CN" dirty="0"/>
              <a:t>)</a:t>
            </a:r>
          </a:p>
          <a:p>
            <a:pPr marL="0" indent="0">
              <a:buNone/>
            </a:pPr>
            <a:r>
              <a:rPr lang="en-US" altLang="zh-CN" b="1" dirty="0"/>
              <a:t>Add T dependence: </a:t>
            </a:r>
            <a:r>
              <a:rPr lang="en-US" altLang="zh-CN" dirty="0" err="1"/>
              <a:t>lnK</a:t>
            </a:r>
            <a:r>
              <a:rPr lang="en-US" altLang="zh-CN" baseline="-25000" dirty="0" err="1"/>
              <a:t>eq</a:t>
            </a:r>
            <a:r>
              <a:rPr lang="en-US" altLang="zh-CN" dirty="0"/>
              <a:t>(T,P) = </a:t>
            </a:r>
            <a:r>
              <a:rPr lang="en-US" altLang="zh-CN" dirty="0" err="1"/>
              <a:t>lnK</a:t>
            </a:r>
            <a:r>
              <a:rPr lang="en-US" altLang="zh-CN" baseline="-25000" dirty="0" err="1"/>
              <a:t>eq</a:t>
            </a:r>
            <a:r>
              <a:rPr lang="en-US" altLang="zh-CN" dirty="0"/>
              <a:t>(T</a:t>
            </a:r>
            <a:r>
              <a:rPr lang="en-US" altLang="zh-CN" baseline="-25000" dirty="0"/>
              <a:t>0</a:t>
            </a:r>
            <a:r>
              <a:rPr lang="en-US" altLang="zh-CN" dirty="0"/>
              <a:t>=1400℃,P) + 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0129B2-5705-54A9-8980-0CF00827166D}"/>
              </a:ext>
            </a:extLst>
          </p:cNvPr>
          <p:cNvPicPr>
            <a:picLocks/>
          </p:cNvPicPr>
          <p:nvPr/>
        </p:nvPicPr>
        <p:blipFill>
          <a:blip r:embed="rId2"/>
          <a:srcRect l="39662" t="18010" r="41960" b="18355"/>
          <a:stretch>
            <a:fillRect/>
          </a:stretch>
        </p:blipFill>
        <p:spPr>
          <a:xfrm>
            <a:off x="9220200" y="5708650"/>
            <a:ext cx="1244600" cy="4788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357F525D-15B0-4EED-9D46-DC1562C53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Hirschmann et al. 2012</a:t>
            </a:r>
            <a:endParaRPr lang="zh-CN" altLang="en-US" sz="54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1140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EEC9B-72C4-C54C-A6A1-A81403E37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4310F41-1B8D-DEFD-40EB-95E1676DD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9207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5400" b="1" dirty="0">
                <a:latin typeface="+mn-lt"/>
              </a:rPr>
              <a:t>Treatment in the model</a:t>
            </a:r>
            <a:endParaRPr lang="zh-CN" altLang="en-US" sz="5400" b="1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内容占位符 2">
                <a:extLst>
                  <a:ext uri="{FF2B5EF4-FFF2-40B4-BE49-F238E27FC236}">
                    <a16:creationId xmlns:a16="http://schemas.microsoft.com/office/drawing/2014/main" id="{747E29E7-2FD5-92D8-C2B6-47D12BD79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08050"/>
                <a:ext cx="10515600" cy="5816601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altLang="zh-CN" b="1" dirty="0"/>
                  <a:t>For magma ocean: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(T</a:t>
                </a:r>
                <a:r>
                  <a:rPr lang="en-US" altLang="zh-CN" baseline="-25000" dirty="0"/>
                  <a:t>0</a:t>
                </a:r>
                <a:r>
                  <a:rPr lang="en-US" altLang="zh-CN" dirty="0"/>
                  <a:t>=1400℃,P) = -12.5-0.76P(</a:t>
                </a:r>
                <a:r>
                  <a:rPr lang="en-US" altLang="zh-CN" dirty="0" err="1"/>
                  <a:t>Gpa</a:t>
                </a:r>
                <a:r>
                  <a:rPr lang="en-US" altLang="zh-CN" dirty="0"/>
                  <a:t>)</a:t>
                </a:r>
              </a:p>
              <a:p>
                <a:pPr marL="0" indent="0">
                  <a:buNone/>
                </a:pPr>
                <a:r>
                  <a:rPr lang="en-US" altLang="zh-CN" b="1" dirty="0"/>
                  <a:t>Add T dependence: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(T,P) =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(T</a:t>
                </a:r>
                <a:r>
                  <a:rPr lang="en-US" altLang="zh-CN" baseline="-25000" dirty="0"/>
                  <a:t>0</a:t>
                </a:r>
                <a:r>
                  <a:rPr lang="en-US" altLang="zh-CN" dirty="0"/>
                  <a:t>=1400℃,P) + </a:t>
                </a:r>
              </a:p>
              <a:p>
                <a:pPr marL="0" indent="0">
                  <a:buNone/>
                </a:pPr>
                <a:endParaRPr lang="en-US" altLang="zh-CN" b="1" dirty="0"/>
              </a:p>
              <a:p>
                <a:pPr marL="0" indent="0">
                  <a:buNone/>
                </a:pPr>
                <a:r>
                  <a:rPr lang="en-US" altLang="zh-CN" b="1" dirty="0"/>
                  <a:t>Assume a constant K</a:t>
                </a:r>
                <a:r>
                  <a:rPr lang="en-US" altLang="zh-CN" b="1" baseline="-25000" dirty="0"/>
                  <a:t>D</a:t>
                </a:r>
                <a:r>
                  <a:rPr lang="en-US" altLang="zh-CN" b="1" dirty="0"/>
                  <a:t>:</a:t>
                </a:r>
              </a:p>
              <a:p>
                <a:pPr marL="0" indent="0">
                  <a:buNone/>
                </a:pP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altLang="zh-CN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𝑚𝑒𝑙𝑡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</a:rPr>
                                <m:t>𝑔𝑎𝑠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b="1" dirty="0"/>
                  <a:t>K</a:t>
                </a:r>
                <a:r>
                  <a:rPr lang="en-US" altLang="zh-CN" b="1" baseline="-25000" dirty="0"/>
                  <a:t>D</a:t>
                </a:r>
                <a:r>
                  <a:rPr lang="en-US" altLang="zh-CN" b="1" dirty="0"/>
                  <a:t> construction in paper: </a:t>
                </a:r>
              </a:p>
              <a:p>
                <a:pPr marL="0" indent="0" algn="ctr">
                  <a:buNone/>
                </a:pP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D</a:t>
                </a:r>
                <a:r>
                  <a:rPr lang="en-US" altLang="zh-CN" dirty="0"/>
                  <a:t> (T) =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(T,3Gpa) + ln(3*10</a:t>
                </a:r>
                <a:r>
                  <a:rPr lang="en-US" altLang="zh-CN" baseline="30000" dirty="0"/>
                  <a:t>4</a:t>
                </a:r>
                <a:r>
                  <a:rPr lang="en-US" altLang="zh-CN" dirty="0"/>
                  <a:t>)</a:t>
                </a:r>
              </a:p>
              <a:p>
                <a:pPr marL="0" indent="0">
                  <a:buNone/>
                </a:pPr>
                <a:endParaRPr lang="en-US" altLang="zh-CN" b="1" dirty="0"/>
              </a:p>
              <a:p>
                <a:pPr marL="0" indent="0">
                  <a:buNone/>
                </a:pPr>
                <a:r>
                  <a:rPr lang="en-US" altLang="zh-CN" b="1" dirty="0"/>
                  <a:t>K</a:t>
                </a:r>
                <a:r>
                  <a:rPr lang="en-US" altLang="zh-CN" b="1" baseline="-25000" dirty="0"/>
                  <a:t>D</a:t>
                </a:r>
                <a:r>
                  <a:rPr lang="en-US" altLang="zh-CN" b="1" dirty="0"/>
                  <a:t> construction in code:</a:t>
                </a:r>
              </a:p>
              <a:p>
                <a:pPr marL="0" indent="0" algn="ctr">
                  <a:buNone/>
                </a:pP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D</a:t>
                </a:r>
                <a:r>
                  <a:rPr lang="en-US" altLang="zh-CN" dirty="0"/>
                  <a:t> (T) = </a:t>
                </a:r>
                <a:r>
                  <a:rPr lang="en-US" altLang="zh-CN" dirty="0" err="1"/>
                  <a:t>lnK</a:t>
                </a:r>
                <a:r>
                  <a:rPr lang="en-US" altLang="zh-CN" baseline="-25000" dirty="0" err="1"/>
                  <a:t>eq</a:t>
                </a:r>
                <a:r>
                  <a:rPr lang="en-US" altLang="zh-CN" dirty="0"/>
                  <a:t>(T</a:t>
                </a:r>
                <a:r>
                  <a:rPr lang="en-US" altLang="zh-CN" baseline="-25000" dirty="0"/>
                  <a:t>0</a:t>
                </a:r>
                <a:r>
                  <a:rPr lang="en-US" altLang="zh-CN" dirty="0"/>
                  <a:t> = 1400 ℃,1bar) + ln(P</a:t>
                </a:r>
                <a:r>
                  <a:rPr lang="en-US" altLang="zh-CN" baseline="-25000" dirty="0"/>
                  <a:t>C</a:t>
                </a:r>
                <a:r>
                  <a:rPr lang="en-US" altLang="zh-CN" dirty="0"/>
                  <a:t>/bar)</a:t>
                </a:r>
              </a:p>
              <a:p>
                <a:pPr marL="0" indent="0" algn="ctr">
                  <a:buNone/>
                </a:pPr>
                <a:endParaRPr lang="en-US" altLang="zh-CN" b="1" dirty="0"/>
              </a:p>
              <a:p>
                <a:pPr marL="0" indent="0">
                  <a:buNone/>
                </a:pPr>
                <a:endParaRPr lang="en-US" altLang="zh-CN" dirty="0"/>
              </a:p>
            </p:txBody>
          </p:sp>
        </mc:Choice>
        <mc:Fallback>
          <p:sp>
            <p:nvSpPr>
              <p:cNvPr id="5" name="内容占位符 2">
                <a:extLst>
                  <a:ext uri="{FF2B5EF4-FFF2-40B4-BE49-F238E27FC236}">
                    <a16:creationId xmlns:a16="http://schemas.microsoft.com/office/drawing/2014/main" id="{747E29E7-2FD5-92D8-C2B6-47D12BD79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08050"/>
                <a:ext cx="10515600" cy="5816601"/>
              </a:xfrm>
              <a:blipFill>
                <a:blip r:embed="rId2"/>
                <a:stretch>
                  <a:fillRect l="-1043" t="-20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1E056B94-6446-D4A7-8360-496583AB5F1F}"/>
              </a:ext>
            </a:extLst>
          </p:cNvPr>
          <p:cNvPicPr>
            <a:picLocks/>
          </p:cNvPicPr>
          <p:nvPr/>
        </p:nvPicPr>
        <p:blipFill>
          <a:blip r:embed="rId3"/>
          <a:srcRect l="39662" t="18010" r="41960" b="18355"/>
          <a:stretch>
            <a:fillRect/>
          </a:stretch>
        </p:blipFill>
        <p:spPr>
          <a:xfrm>
            <a:off x="8669965" y="1308099"/>
            <a:ext cx="1244600" cy="47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647</Words>
  <Application>Microsoft Office PowerPoint</Application>
  <PresentationFormat>Widescreen</PresentationFormat>
  <Paragraphs>127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Cambria Math</vt:lpstr>
      <vt:lpstr>Office 主题​​</vt:lpstr>
      <vt:lpstr>Aim of the project</vt:lpstr>
      <vt:lpstr>Project Frame</vt:lpstr>
      <vt:lpstr>Equations</vt:lpstr>
      <vt:lpstr>Equations</vt:lpstr>
      <vt:lpstr>Solver</vt:lpstr>
      <vt:lpstr>PowerPoint Presentation</vt:lpstr>
      <vt:lpstr>Hirschmann et al. 2012</vt:lpstr>
      <vt:lpstr>Hirschmann et al. 2012</vt:lpstr>
      <vt:lpstr>Hirschmann et al. 2012</vt:lpstr>
      <vt:lpstr>Hirschmann et al. 2012</vt:lpstr>
      <vt:lpstr>Hirschmann et al. 2012</vt:lpstr>
      <vt:lpstr>Treatment in the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 Zhong</dc:creator>
  <cp:lastModifiedBy>Min Zhong</cp:lastModifiedBy>
  <cp:revision>17</cp:revision>
  <dcterms:created xsi:type="dcterms:W3CDTF">2026-04-05T22:57:44Z</dcterms:created>
  <dcterms:modified xsi:type="dcterms:W3CDTF">2026-06-19T02:27:01Z</dcterms:modified>
</cp:coreProperties>
</file>